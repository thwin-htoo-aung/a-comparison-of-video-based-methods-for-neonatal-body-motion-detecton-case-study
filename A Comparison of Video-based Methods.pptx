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5" r:id="rId5"/>
    <p:sldId id="267" r:id="rId6"/>
    <p:sldId id="268" r:id="rId7"/>
    <p:sldId id="269" r:id="rId8"/>
    <p:sldId id="270" r:id="rId9"/>
    <p:sldId id="271" r:id="rId10"/>
    <p:sldId id="266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" initials="M" lastIdx="1" clrIdx="0">
    <p:extLst>
      <p:ext uri="{19B8F6BF-5375-455C-9EA6-DF929625EA0E}">
        <p15:presenceInfo xmlns:p15="http://schemas.microsoft.com/office/powerpoint/2012/main" userId="MIC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1" autoAdjust="0"/>
    <p:restoredTop sz="94249" autoAdjust="0"/>
  </p:normalViewPr>
  <p:slideViewPr>
    <p:cSldViewPr snapToGrid="0">
      <p:cViewPr varScale="1">
        <p:scale>
          <a:sx n="65" d="100"/>
          <a:sy n="65" d="100"/>
        </p:scale>
        <p:origin x="-1410" y="-9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7821F-8265-4AFC-9FD0-AA5BA0B1827E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71E5F-4077-4C53-AAE4-08ADDF30D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71E5F-4077-4C53-AAE4-08ADDF30DD6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5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71E5F-4077-4C53-AAE4-08ADDF30DD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490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71E5F-4077-4C53-AAE4-08ADDF30DD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6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4320-D2CE-48CD-A93B-FC74550F7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D490E-CD74-41D4-8B39-E354D9434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B4A63-788D-4625-9970-52A4E36E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2B15A-2FD9-4DC0-B083-951FCD71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B3EA7-D78B-4394-9B04-46018DB9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25C-CFD9-42D2-8EA2-61F73CB9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BF826-9B6E-4A2C-9190-BF56AD842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3BD9-1EA8-4737-8DAE-6FFD6051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2909-8626-4A71-8956-CE2B8A779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4846-0EA6-40EC-BE0D-72BDE3F5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7695-3423-42C6-8F84-F7810370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C18F7-BA7D-4002-B7F7-2300ADACC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16AB-4B92-4575-9975-8180C2F8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073B5-B8DB-4770-B822-779CC267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8D8AE-9C9A-42B9-8399-BFEB2EC3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2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82AA-2A7F-4EBF-B5E9-674C714A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E4974-C0BF-45B5-B697-EF8D85CE52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1B3F9-3348-48A3-940A-4E95F3A0A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7F58F-E4B9-43F3-B76D-FFD02DF4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5E73C-218D-446C-B89C-F5EDCD3B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C1C9D-9B15-4AB4-80AD-385420A9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5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627D-0927-4655-BC61-E9277D2C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96EAA-C487-44AD-AC96-CAB2E0221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8A3C4-5143-44AB-9AF8-83F9C18C8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9B4E2-CC15-4948-9FDD-3A445CA1D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0AF8C-48C8-43CD-B4A2-AA8B9F46F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493D16-2B19-4FE7-B664-7BCD61CB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1C473-5A5E-428A-8F11-353CDAF6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57911B-DCB0-4673-96CD-CEDEE0B0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5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2BF5-FFD7-4AB2-A4B0-EA46C6AA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9214F-1437-4D00-B0A2-EC639C2C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A4546-959D-497B-97C1-6B08DF1C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04526-6ED0-4B3E-BC7F-0B7739A6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2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970B3-AB67-4AAD-BDCB-37989E37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99B0E-B57F-42BD-A7B3-5505AB72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37566-0DCA-4CF8-9BC4-E8196E84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E915-1F9B-45A9-8097-7445A359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DF760-0340-4CCB-814C-60EED50A0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7EC25-5D74-4F6E-8ABC-33E2C95C0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FAC14-3E6B-41F6-8706-95155BD4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6356D-D26F-460C-A982-0C8CBA4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2A71-F489-41D0-A6BB-7A9124BB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33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085B-8A77-4521-B3CF-1D13AAE6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50F21E-74FE-4348-8FB1-AF268C4A0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E0424-44B6-4CD6-8725-8E3A69B42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47A81-B9B7-401A-8EDD-F8A31F05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5AC3-8DC1-4288-BA0C-72C8BE7C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A2580-E34A-414D-8676-7543CC9F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8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DBFD-1AC0-49A8-8A79-014FC592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190C1-A956-4918-A66A-F162DF092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63E8-3AE7-4612-A480-A0D5BE7E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2D54-BC34-4BB1-8C91-1684AAA8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1AD47-F53A-4463-B35F-CE5FA69E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DF0F9C-AD4E-4CE8-9197-5949451C7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94071-25CE-4FAF-852D-D645E7970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DEE22-8877-4A50-85CF-532EE743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2833B-0EB0-4B04-9ABF-2E7B3D16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42790-1CC9-4B26-86F5-71CF0F6A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0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776B8-EF51-4E94-88F2-D3062B15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FA36D-83BE-4093-9118-673FA6BF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34D1D-2E90-4CF7-89D0-1072EB010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34F26-E879-48AB-848C-F170253A7726}" type="datetimeFigureOut">
              <a:rPr lang="en-US" smtClean="0"/>
              <a:t>2/7/2023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7EF76-85C9-4EE2-AA10-119899A64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2920F-8283-4A67-A1E2-548B01F15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C6A13-6AE3-49C8-B7C5-036B3568D5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7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11" Type="http://schemas.openxmlformats.org/officeDocument/2006/relationships/image" Target="../media/image10.jpg"/><Relationship Id="rId5" Type="http://schemas.openxmlformats.org/officeDocument/2006/relationships/image" Target="../media/image5.jpg"/><Relationship Id="rId10" Type="http://schemas.openxmlformats.org/officeDocument/2006/relationships/image" Target="../media/image9.w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4.jpeg"/><Relationship Id="rId5" Type="http://schemas.openxmlformats.org/officeDocument/2006/relationships/image" Target="../media/image2.png"/><Relationship Id="rId10" Type="http://schemas.openxmlformats.org/officeDocument/2006/relationships/image" Target="../media/image13.png"/><Relationship Id="rId4" Type="http://schemas.openxmlformats.org/officeDocument/2006/relationships/image" Target="../media/image5.jp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5.jp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11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11" Type="http://schemas.openxmlformats.org/officeDocument/2006/relationships/image" Target="../media/image17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5.jp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995265" y="5987143"/>
            <a:ext cx="13187265" cy="870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97"/>
          <a:stretch/>
        </p:blipFill>
        <p:spPr>
          <a:xfrm>
            <a:off x="-995265" y="-314550"/>
            <a:ext cx="13187265" cy="582272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 rot="17652085">
            <a:off x="13534789" y="142651"/>
            <a:ext cx="8403771" cy="7489371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7652085">
            <a:off x="14123489" y="-234723"/>
            <a:ext cx="8403771" cy="74893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1055905" y="617133"/>
            <a:ext cx="10080172" cy="3635829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1084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1044974" y="2546510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2547248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757121" y="6240867"/>
            <a:ext cx="6869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III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C9671-3F26-42A1-9011-D104E4101E48}"/>
              </a:ext>
            </a:extLst>
          </p:cNvPr>
          <p:cNvSpPr txBox="1"/>
          <p:nvPr/>
        </p:nvSpPr>
        <p:spPr>
          <a:xfrm>
            <a:off x="12747179" y="780423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C0462-C69C-4D46-B33A-FC101D7BD6BB}"/>
              </a:ext>
            </a:extLst>
          </p:cNvPr>
          <p:cNvSpPr txBox="1"/>
          <p:nvPr/>
        </p:nvSpPr>
        <p:spPr>
          <a:xfrm>
            <a:off x="14727002" y="813081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8700" y="1910342"/>
            <a:ext cx="7810595" cy="60730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4FAA7EF-B7CF-48B7-BAD4-C130971CB153}"/>
              </a:ext>
            </a:extLst>
          </p:cNvPr>
          <p:cNvSpPr/>
          <p:nvPr/>
        </p:nvSpPr>
        <p:spPr>
          <a:xfrm>
            <a:off x="5823646" y="4320446"/>
            <a:ext cx="6355549" cy="1194923"/>
          </a:xfrm>
          <a:prstGeom prst="rect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2022 44th Annual International Conference of</a:t>
            </a:r>
          </a:p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the IEEE Engineering in Medicine &amp; Biology Society (EMBC)</a:t>
            </a:r>
          </a:p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Scottish Event Campus, Glasgow, UK, July 11-15, 2022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2A2B3B98-6280-4A8F-A468-AD40E56D564D}"/>
              </a:ext>
            </a:extLst>
          </p:cNvPr>
          <p:cNvSpPr/>
          <p:nvPr/>
        </p:nvSpPr>
        <p:spPr>
          <a:xfrm>
            <a:off x="30700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20A9020-3FC0-433A-96E8-B2BA5FC89F94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06388426-872A-4583-9945-F4B3FD85BE5A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8481F46-8D8B-4216-8ACC-71B82E6AE54C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5B1B4A4B-4879-4EEC-B100-242ADE51C0BC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EE48B6DB-58EA-4F77-9AE5-181B20176B36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19ACE959-D12A-4D75-AA0C-A9221F4A15B0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B119325-1F6E-42D3-83B6-8A595302F151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63E7AC46-D65B-4C1F-B9B6-E452BC83E996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D8BACE4E-12D1-4763-AF05-F8440783C667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853571C8-2C9D-4FB5-8E26-DB7B0F338BA4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566817FB-48B0-4540-85D7-B4BC13E995C0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6B8C5750-48ED-4392-AD32-B6C8C97BA5F3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C8F1314D-CAF7-4014-B491-7ABB7679A7E5}"/>
              </a:ext>
            </a:extLst>
          </p:cNvPr>
          <p:cNvSpPr/>
          <p:nvPr/>
        </p:nvSpPr>
        <p:spPr>
          <a:xfrm>
            <a:off x="269262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F96B67-FBA0-45A1-8E2B-B67EDDF32993}"/>
              </a:ext>
            </a:extLst>
          </p:cNvPr>
          <p:cNvSpPr txBox="1"/>
          <p:nvPr/>
        </p:nvSpPr>
        <p:spPr>
          <a:xfrm>
            <a:off x="264442" y="6404561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1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4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995265" y="5987143"/>
            <a:ext cx="13187265" cy="870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897"/>
          <a:stretch/>
        </p:blipFill>
        <p:spPr>
          <a:xfrm>
            <a:off x="-995265" y="-314550"/>
            <a:ext cx="13187265" cy="5822722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 rot="16200000">
            <a:off x="5031093" y="142650"/>
            <a:ext cx="8403771" cy="7489371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5352316" y="142648"/>
            <a:ext cx="8403771" cy="748937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204286"/>
            <a:ext cx="10874838" cy="676041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31356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III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31356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D6D380-4FFF-4BDB-A1C7-F02CAFFF6BB6}"/>
              </a:ext>
            </a:extLst>
          </p:cNvPr>
          <p:cNvSpPr txBox="1"/>
          <p:nvPr/>
        </p:nvSpPr>
        <p:spPr>
          <a:xfrm>
            <a:off x="6313710" y="314666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8F3D3C-0A49-496F-B5E9-57B6C848EC04}"/>
              </a:ext>
            </a:extLst>
          </p:cNvPr>
          <p:cNvSpPr txBox="1"/>
          <p:nvPr/>
        </p:nvSpPr>
        <p:spPr>
          <a:xfrm>
            <a:off x="6744855" y="1071722"/>
            <a:ext cx="4966288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Evaluation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2DEDCF-CFCC-4991-AB00-44CB7AA5070B}"/>
              </a:ext>
            </a:extLst>
          </p:cNvPr>
          <p:cNvSpPr/>
          <p:nvPr/>
        </p:nvSpPr>
        <p:spPr>
          <a:xfrm>
            <a:off x="-5829281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E00221-39FA-47B7-AFD7-009762DC4B0B}"/>
              </a:ext>
            </a:extLst>
          </p:cNvPr>
          <p:cNvSpPr/>
          <p:nvPr/>
        </p:nvSpPr>
        <p:spPr>
          <a:xfrm>
            <a:off x="-5929014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D038DC-B8DB-4E6A-A174-37470C461170}"/>
              </a:ext>
            </a:extLst>
          </p:cNvPr>
          <p:cNvSpPr/>
          <p:nvPr/>
        </p:nvSpPr>
        <p:spPr>
          <a:xfrm>
            <a:off x="13038369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4121B8-7EB8-435D-880F-ED9EEEF6832E}"/>
              </a:ext>
            </a:extLst>
          </p:cNvPr>
          <p:cNvSpPr/>
          <p:nvPr/>
        </p:nvSpPr>
        <p:spPr>
          <a:xfrm>
            <a:off x="13731501" y="4320446"/>
            <a:ext cx="6355549" cy="1194923"/>
          </a:xfrm>
          <a:prstGeom prst="rect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2022 44th Annual International Conference of</a:t>
            </a:r>
          </a:p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the IEEE Engineering in Medicine &amp; Biology Society (EMBC)</a:t>
            </a:r>
          </a:p>
          <a:p>
            <a:pPr algn="l"/>
            <a:r>
              <a:rPr lang="en-US" sz="2000" b="1" i="0" u="none" strike="noStrike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Scottish Event Campus, Glasgow, UK, July 11-15, 2022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70D985-EE04-4AAD-9736-8B62FFCC6117}"/>
              </a:ext>
            </a:extLst>
          </p:cNvPr>
          <p:cNvSpPr/>
          <p:nvPr/>
        </p:nvSpPr>
        <p:spPr>
          <a:xfrm>
            <a:off x="399929" y="1269589"/>
            <a:ext cx="5084610" cy="3132531"/>
          </a:xfrm>
          <a:prstGeom prst="rect">
            <a:avLst/>
          </a:prstGeom>
          <a:solidFill>
            <a:schemeClr val="lt1">
              <a:alpha val="3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-BoldMT"/>
              </a:rPr>
              <a:t> Zaw	5IST-16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47" y="1910342"/>
            <a:ext cx="7810595" cy="6073067"/>
          </a:xfrm>
          <a:prstGeom prst="rect">
            <a:avLst/>
          </a:prstGeom>
        </p:spPr>
      </p:pic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0462930-5E62-4297-A50E-ED5EAF14C70E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AB800DCC-4F5B-4AED-AC8F-01ED8B6B1F31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55DF6929-FD97-4456-94CF-2184F2B0F083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45F0BE9-BC89-4699-81EE-C8FA6017A1B3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8D7D1F81-1494-4C17-AE9B-367D9D4867BB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6560EE01-4808-4E7E-A598-87E6183BC2F5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ED69E0AA-E1ED-4C0F-8273-741301DB0FF0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55F1B03-E692-498E-A0BB-F6A57769D9FC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6C9B0CF8-5915-4A1B-966A-0BD2A99A220C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3DA2FD86-13DD-4431-9752-FE895CC83CA8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0CC757D7-7ABD-491F-B2D1-0A54FD1ED059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7D1104C6-7DB7-47C7-AADB-18489A40D1D2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6F63F24F-83B6-4808-9906-FB97080D1A58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F2CEE731-75E7-47AA-A938-57D1564C838E}"/>
              </a:ext>
            </a:extLst>
          </p:cNvPr>
          <p:cNvSpPr/>
          <p:nvPr/>
        </p:nvSpPr>
        <p:spPr>
          <a:xfrm>
            <a:off x="490486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961D95-BF4E-452A-BAEB-B0A87724891F}"/>
              </a:ext>
            </a:extLst>
          </p:cNvPr>
          <p:cNvSpPr txBox="1"/>
          <p:nvPr/>
        </p:nvSpPr>
        <p:spPr>
          <a:xfrm>
            <a:off x="483790" y="6407823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2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49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995265" y="5987143"/>
            <a:ext cx="13187265" cy="870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97"/>
          <a:stretch/>
        </p:blipFill>
        <p:spPr>
          <a:xfrm>
            <a:off x="-995265" y="-314549"/>
            <a:ext cx="13187265" cy="5822722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3117098" y="20731"/>
            <a:ext cx="9213098" cy="5487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170" y="1910342"/>
            <a:ext cx="7810595" cy="607306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6104319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 rot="18874592">
            <a:off x="4950502" y="1735488"/>
            <a:ext cx="2299315" cy="2211903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3492704">
            <a:off x="5155002" y="1917237"/>
            <a:ext cx="1909962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4804738" y="2502736"/>
            <a:ext cx="25825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Background Story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842443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82737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7043979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2E0396E-38EF-44BC-944E-B9C1C2699258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F5F3A70F-ED64-47CE-B871-97535B3BFFE3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F88C09AF-FDD0-4F76-9E3B-86172945D58D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5CC2B929-608E-4874-AD55-B8A86B2142A1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BCB915C2-45F2-4759-9CF4-30412B426DB2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30CFD51-D4B1-4911-BF58-6A3130DB257E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A138FBC-69DC-4E4E-B97E-2C5F05B37447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7044A43F-3DED-4BD9-9245-8E97EFF8FBE6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EB97CC3-BB77-479D-B0BC-26262DE2C937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9DF52922-15C5-4ACD-B416-14C33D6A0C55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6321F222-F4D8-4B74-9579-619750BAA99E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31984E76-3F33-4D13-90AD-A3C5444BC2E3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5AE1BF29-5B55-4C8A-AB49-395BC3553B24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ABD6F4BB-D4B7-4396-8CA0-B3A84F9DB119}"/>
              </a:ext>
            </a:extLst>
          </p:cNvPr>
          <p:cNvSpPr/>
          <p:nvPr/>
        </p:nvSpPr>
        <p:spPr>
          <a:xfrm>
            <a:off x="770698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29FD3D-4A00-4222-98F3-BD454CC03E84}"/>
              </a:ext>
            </a:extLst>
          </p:cNvPr>
          <p:cNvSpPr txBox="1"/>
          <p:nvPr/>
        </p:nvSpPr>
        <p:spPr>
          <a:xfrm>
            <a:off x="751136" y="6404561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3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187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5960533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97"/>
          <a:stretch/>
        </p:blipFill>
        <p:spPr>
          <a:xfrm>
            <a:off x="0" y="53905"/>
            <a:ext cx="12192000" cy="5454268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 rot="18874592">
            <a:off x="869571" y="1735488"/>
            <a:ext cx="2299315" cy="2211903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3492704">
            <a:off x="1091010" y="1917237"/>
            <a:ext cx="1909962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706874" y="2621267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Abstract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3933779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170" y="1910342"/>
            <a:ext cx="7810595" cy="607306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234779D-6050-490C-B02B-EA5E50F146B7}"/>
              </a:ext>
            </a:extLst>
          </p:cNvPr>
          <p:cNvSpPr/>
          <p:nvPr/>
        </p:nvSpPr>
        <p:spPr>
          <a:xfrm>
            <a:off x="3107095" y="7248971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952AC5C-7F39-432A-87E7-9E9CD626EB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687" y="7888635"/>
            <a:ext cx="8639240" cy="1024866"/>
          </a:xfrm>
          <a:prstGeom prst="rect">
            <a:avLst/>
          </a:prstGeom>
        </p:spPr>
      </p:pic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A1C7C9BA-25B8-46AB-9E28-0F6A3038CEA7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FA2A750-628A-447D-93D0-C1469BA81FA2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9EA920F1-CDDC-4F88-B6DC-33E9E2F226D7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43E65D9F-C26D-43FD-9F64-C528803BA464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9B822FE5-5D85-4F99-9D38-9EA7FCA59DB4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E299AFDA-F7F6-4375-81DA-EDE0C6FFA748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28EBB1C1-E9CA-47DD-ABB1-E645358EC48F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255939EE-2FC7-41A6-A8FE-43961FA52CD7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5E020CAE-0298-4AB6-89BC-50F0E4EE21BF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E034C17D-F878-45EF-BAAF-269CA4B77562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86A53030-4EED-4D6F-A3C0-6434591B1898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7E71683C-A2D2-44A1-B4E4-2858D2235F5F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F8DA9B60-AB4D-4413-9F91-F518B20B019C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D3238F81-35B1-4EFD-8BFC-1BA1A9439835}"/>
              </a:ext>
            </a:extLst>
          </p:cNvPr>
          <p:cNvSpPr/>
          <p:nvPr/>
        </p:nvSpPr>
        <p:spPr>
          <a:xfrm>
            <a:off x="1021414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1D7D35-943D-4FEC-804E-AD0695871F92}"/>
              </a:ext>
            </a:extLst>
          </p:cNvPr>
          <p:cNvSpPr txBox="1"/>
          <p:nvPr/>
        </p:nvSpPr>
        <p:spPr>
          <a:xfrm>
            <a:off x="1016612" y="6404561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4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72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619065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-308" r="5715" b="1093"/>
          <a:stretch/>
        </p:blipFill>
        <p:spPr>
          <a:xfrm>
            <a:off x="0" y="53904"/>
            <a:ext cx="12192000" cy="680409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30912" y="284339"/>
            <a:ext cx="2212296" cy="5980064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-954239" y="2349630"/>
            <a:ext cx="5221537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334348" y="3010736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Datasets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620567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30" y="1910342"/>
            <a:ext cx="7810595" cy="607306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02952C-3126-40E8-A3B0-066AD9765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192817"/>
              </p:ext>
            </p:extLst>
          </p:nvPr>
        </p:nvGraphicFramePr>
        <p:xfrm>
          <a:off x="3103135" y="284340"/>
          <a:ext cx="8628038" cy="431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065">
                  <a:extLst>
                    <a:ext uri="{9D8B030D-6E8A-4147-A177-3AD203B41FA5}">
                      <a16:colId xmlns:a16="http://schemas.microsoft.com/office/drawing/2014/main" val="448151600"/>
                    </a:ext>
                  </a:extLst>
                </a:gridCol>
                <a:gridCol w="4415973">
                  <a:extLst>
                    <a:ext uri="{9D8B030D-6E8A-4147-A177-3AD203B41FA5}">
                      <a16:colId xmlns:a16="http://schemas.microsoft.com/office/drawing/2014/main" val="1945852842"/>
                    </a:ext>
                  </a:extLst>
                </a:gridCol>
              </a:tblGrid>
              <a:tr h="591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RGB Datasets</a:t>
                      </a:r>
                    </a:p>
                  </a:txBody>
                  <a:tcPr>
                    <a:solidFill>
                      <a:schemeClr val="accent1">
                        <a:lumMod val="5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Thermal Datasets</a:t>
                      </a:r>
                    </a:p>
                  </a:txBody>
                  <a:tcPr>
                    <a:solidFill>
                      <a:schemeClr val="accent1"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2858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 RGB Camera (UI-3860LE-C-HQ)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Three thermal cameras (FLIR Lepton 2.5)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08123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1280 x 720 pixels - 10fps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of 60 x 80 pixels - 9 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4963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Placed on top of the incubator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Placed around the infants’ beds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7605"/>
                  </a:ext>
                </a:extLst>
              </a:tr>
              <a:tr h="648458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capture the head and upper body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Merged to observe infants from different directions simultaneously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11212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9-hour videos from 5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32-hour thermal videos from 13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57577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 PMA of 31.2 (2.1) weeks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 PMA of 36.7 (3.3) weeks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318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1C93E8A-DC84-4EAB-A0F4-4E96B7A63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687" y="5416369"/>
            <a:ext cx="8639240" cy="10248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5A5B88-5694-4F1B-A324-B7BDDC2C222F}"/>
              </a:ext>
            </a:extLst>
          </p:cNvPr>
          <p:cNvSpPr txBox="1"/>
          <p:nvPr/>
        </p:nvSpPr>
        <p:spPr>
          <a:xfrm>
            <a:off x="3040576" y="4910395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B54A0-1F71-4264-AF02-60E496342348}"/>
              </a:ext>
            </a:extLst>
          </p:cNvPr>
          <p:cNvSpPr/>
          <p:nvPr/>
        </p:nvSpPr>
        <p:spPr>
          <a:xfrm>
            <a:off x="3107095" y="4759770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E3CF44-935F-4E14-A48E-896016A09867}"/>
              </a:ext>
            </a:extLst>
          </p:cNvPr>
          <p:cNvSpPr/>
          <p:nvPr/>
        </p:nvSpPr>
        <p:spPr>
          <a:xfrm>
            <a:off x="164096" y="7150143"/>
            <a:ext cx="2876480" cy="52011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Four methods are . . 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4336A6-9DCF-4C0B-B214-039CFE59F360}"/>
              </a:ext>
            </a:extLst>
          </p:cNvPr>
          <p:cNvSpPr/>
          <p:nvPr/>
        </p:nvSpPr>
        <p:spPr>
          <a:xfrm>
            <a:off x="164096" y="7890540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CC5BD9-ECA8-472A-8A47-9A9BE862DBD6}"/>
              </a:ext>
            </a:extLst>
          </p:cNvPr>
          <p:cNvSpPr/>
          <p:nvPr/>
        </p:nvSpPr>
        <p:spPr>
          <a:xfrm>
            <a:off x="164099" y="8771070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DB8344-114A-4FB4-938E-C0001B6AA9B3}"/>
              </a:ext>
            </a:extLst>
          </p:cNvPr>
          <p:cNvSpPr/>
          <p:nvPr/>
        </p:nvSpPr>
        <p:spPr>
          <a:xfrm>
            <a:off x="181034" y="9702410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497BD3-61F0-4AE7-8C1C-9E413F68AC0B}"/>
              </a:ext>
            </a:extLst>
          </p:cNvPr>
          <p:cNvSpPr/>
          <p:nvPr/>
        </p:nvSpPr>
        <p:spPr>
          <a:xfrm>
            <a:off x="197970" y="10667617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F148256E-5143-4237-9D66-E50E9CA625D8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78981B3-2BBA-401C-9E59-DCA0782E39FA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B0F8F2E2-E65C-4B87-A77A-E48DB0860CE0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B112205C-4B63-438D-B05C-18A83DF40935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02CD3FA1-6B2E-42F2-A384-DC70CD1D6073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9A52AF04-2B12-4774-AAEE-B3D2B96139C4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2CDE576E-02F6-4B10-954B-67737C32AEB2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88C04013-4C75-4F30-A92E-81E11FAE46FC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DA5AB3E3-1584-4092-8EF7-E326BE43704B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B511248E-EFB2-4E78-8615-6F7185438C37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F5539438-D1A7-497B-9EEE-BD28C1C88D6E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81D91C2F-C9B1-4470-9F9A-68A046B7AEAA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6F1F1E3F-5080-494A-BBF2-16C40A4838F5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A7BEAD61-1119-422A-AA32-9AE0DAA8CEB6}"/>
              </a:ext>
            </a:extLst>
          </p:cNvPr>
          <p:cNvSpPr/>
          <p:nvPr/>
        </p:nvSpPr>
        <p:spPr>
          <a:xfrm>
            <a:off x="1257382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1BD70C-A098-4AAE-A749-51BB08EBFAA1}"/>
              </a:ext>
            </a:extLst>
          </p:cNvPr>
          <p:cNvSpPr txBox="1"/>
          <p:nvPr/>
        </p:nvSpPr>
        <p:spPr>
          <a:xfrm>
            <a:off x="1237834" y="6404561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5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59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602132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-308" r="5715" b="1093"/>
          <a:stretch/>
        </p:blipFill>
        <p:spPr>
          <a:xfrm>
            <a:off x="0" y="53904"/>
            <a:ext cx="12192000" cy="680409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30912" y="284338"/>
            <a:ext cx="2212296" cy="1412720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1190863" y="66390"/>
            <a:ext cx="931335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365268" y="744283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Methods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620567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30" y="1910342"/>
            <a:ext cx="7810595" cy="607306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02952C-3126-40E8-A3B0-066AD9765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58988"/>
              </p:ext>
            </p:extLst>
          </p:nvPr>
        </p:nvGraphicFramePr>
        <p:xfrm>
          <a:off x="12636588" y="284340"/>
          <a:ext cx="8628038" cy="431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065">
                  <a:extLst>
                    <a:ext uri="{9D8B030D-6E8A-4147-A177-3AD203B41FA5}">
                      <a16:colId xmlns:a16="http://schemas.microsoft.com/office/drawing/2014/main" val="448151600"/>
                    </a:ext>
                  </a:extLst>
                </a:gridCol>
                <a:gridCol w="4415973">
                  <a:extLst>
                    <a:ext uri="{9D8B030D-6E8A-4147-A177-3AD203B41FA5}">
                      <a16:colId xmlns:a16="http://schemas.microsoft.com/office/drawing/2014/main" val="1945852842"/>
                    </a:ext>
                  </a:extLst>
                </a:gridCol>
              </a:tblGrid>
              <a:tr h="591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RGB Datasets</a:t>
                      </a:r>
                    </a:p>
                  </a:txBody>
                  <a:tcPr>
                    <a:solidFill>
                      <a:schemeClr val="accent1">
                        <a:lumMod val="5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Thermal Datasets</a:t>
                      </a:r>
                    </a:p>
                  </a:txBody>
                  <a:tcPr>
                    <a:solidFill>
                      <a:schemeClr val="accent1"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2858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 RGB Camera (UI-3860LE-C-HQ)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Three thermal cameras (FLIR Lepton 2.5)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08123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1280 x 720 pixels - 10fps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of 60 x 80 pixels - 9 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4963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Placed on top of the incubator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Placed around the infants’ beds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7605"/>
                  </a:ext>
                </a:extLst>
              </a:tr>
              <a:tr h="648458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capture the head and upper body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Merged to observe infants from different directions simultaneously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11212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9-hour videos from 5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32-hour thermal videos from 13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57577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 PMA of 31.2 (2.1) weeks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 PMA of 36.7 (3.3) weeks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318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1C93E8A-DC84-4EAB-A0F4-4E96B7A63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804" y="5416369"/>
            <a:ext cx="8639240" cy="10248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5A5B88-5694-4F1B-A324-B7BDDC2C222F}"/>
              </a:ext>
            </a:extLst>
          </p:cNvPr>
          <p:cNvSpPr txBox="1"/>
          <p:nvPr/>
        </p:nvSpPr>
        <p:spPr>
          <a:xfrm>
            <a:off x="3040576" y="4910395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B54A0-1F71-4264-AF02-60E496342348}"/>
              </a:ext>
            </a:extLst>
          </p:cNvPr>
          <p:cNvSpPr/>
          <p:nvPr/>
        </p:nvSpPr>
        <p:spPr>
          <a:xfrm>
            <a:off x="12538947" y="4759770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7A8AEC-E301-4395-9435-377084EE2BFD}"/>
              </a:ext>
            </a:extLst>
          </p:cNvPr>
          <p:cNvSpPr/>
          <p:nvPr/>
        </p:nvSpPr>
        <p:spPr>
          <a:xfrm>
            <a:off x="164096" y="1900819"/>
            <a:ext cx="2876480" cy="52011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Four methods are . . 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8A178C-9AE0-42E0-9D12-6274BA7F0DCF}"/>
              </a:ext>
            </a:extLst>
          </p:cNvPr>
          <p:cNvSpPr/>
          <p:nvPr/>
        </p:nvSpPr>
        <p:spPr>
          <a:xfrm>
            <a:off x="164096" y="2641222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148C25-7D11-4639-94BD-70480270A30A}"/>
              </a:ext>
            </a:extLst>
          </p:cNvPr>
          <p:cNvSpPr/>
          <p:nvPr/>
        </p:nvSpPr>
        <p:spPr>
          <a:xfrm>
            <a:off x="164099" y="3589488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D2DF36-3D14-4C81-A921-6441514EE6E9}"/>
              </a:ext>
            </a:extLst>
          </p:cNvPr>
          <p:cNvSpPr/>
          <p:nvPr/>
        </p:nvSpPr>
        <p:spPr>
          <a:xfrm>
            <a:off x="181034" y="4571619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A700E1-BFE5-4FCD-A86F-15A4E99F07F3}"/>
              </a:ext>
            </a:extLst>
          </p:cNvPr>
          <p:cNvSpPr/>
          <p:nvPr/>
        </p:nvSpPr>
        <p:spPr>
          <a:xfrm>
            <a:off x="197970" y="5519885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5CF246-A651-4589-B89F-CF2AEE40F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0965" y="2194748"/>
            <a:ext cx="8419246" cy="384680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178EF2B-7B06-4C21-A149-7E57DE634FD1}"/>
              </a:ext>
            </a:extLst>
          </p:cNvPr>
          <p:cNvSpPr/>
          <p:nvPr/>
        </p:nvSpPr>
        <p:spPr>
          <a:xfrm>
            <a:off x="3405843" y="402257"/>
            <a:ext cx="8419245" cy="1332848"/>
          </a:xfrm>
          <a:prstGeom prst="rect">
            <a:avLst/>
          </a:prstGeom>
          <a:solidFill>
            <a:schemeClr val="lt1">
              <a:alpha val="66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  Before apply to each methods, </a:t>
            </a:r>
          </a:p>
          <a:p>
            <a:pPr algn="l"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	Each frame was transformed into a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NimbusRomNo9L-Regu"/>
              </a:rPr>
              <a:t>grayscale image 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and normalized by a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NimbusRomNo9L-Regu"/>
              </a:rPr>
              <a:t>histogram equalization 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to improve efficiency and contrast.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1A78698D-F97D-452B-94C4-50315609DDC8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DD33FAA2-EDCB-4949-8BAC-E80B4FFFC06D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48FC9EEC-AC18-4893-BA22-F6A2CC089581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B4DDA403-3C13-4D07-8BFE-B412F1155E70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AD82A68-19A9-4B8B-BD1E-FB800524CF88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380F5368-62B0-453B-BA73-52A35A300829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0503BD2A-E8E3-491B-BB89-7C5BAC3CA835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BA4A2EBE-E9D1-4D5B-B5DD-DCE179D34839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82079B3C-8D19-4698-BB96-754C42FF3A1E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19E87EAF-EA96-4CF7-869F-69F2F0685FCC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42A6ABDA-9B9F-456A-BEFE-897FBB2F89B9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4FB180FE-9275-4C08-A41F-36E37DFAB3DC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4468D4EA-D13D-4C7D-A487-47CD83FFF08B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8D1D4301-BF26-485E-B489-66F248BD9FEB}"/>
              </a:ext>
            </a:extLst>
          </p:cNvPr>
          <p:cNvSpPr/>
          <p:nvPr/>
        </p:nvSpPr>
        <p:spPr>
          <a:xfrm>
            <a:off x="1508103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39A4A9-3F4D-4704-885B-36E75F9BF1A6}"/>
              </a:ext>
            </a:extLst>
          </p:cNvPr>
          <p:cNvSpPr txBox="1"/>
          <p:nvPr/>
        </p:nvSpPr>
        <p:spPr>
          <a:xfrm>
            <a:off x="1503304" y="6404561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6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89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602132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-308" r="5715" b="1093"/>
          <a:stretch/>
        </p:blipFill>
        <p:spPr>
          <a:xfrm>
            <a:off x="0" y="53904"/>
            <a:ext cx="12192000" cy="680409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30912" y="284338"/>
            <a:ext cx="2212296" cy="1412720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1190863" y="66390"/>
            <a:ext cx="931335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365268" y="744283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Methods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620567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30" y="1910342"/>
            <a:ext cx="7810595" cy="607306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02952C-3126-40E8-A3B0-066AD97650BE}"/>
              </a:ext>
            </a:extLst>
          </p:cNvPr>
          <p:cNvGraphicFramePr>
            <a:graphicFrameLocks noGrp="1"/>
          </p:cNvGraphicFramePr>
          <p:nvPr/>
        </p:nvGraphicFramePr>
        <p:xfrm>
          <a:off x="12636588" y="284340"/>
          <a:ext cx="8628038" cy="431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065">
                  <a:extLst>
                    <a:ext uri="{9D8B030D-6E8A-4147-A177-3AD203B41FA5}">
                      <a16:colId xmlns:a16="http://schemas.microsoft.com/office/drawing/2014/main" val="448151600"/>
                    </a:ext>
                  </a:extLst>
                </a:gridCol>
                <a:gridCol w="4415973">
                  <a:extLst>
                    <a:ext uri="{9D8B030D-6E8A-4147-A177-3AD203B41FA5}">
                      <a16:colId xmlns:a16="http://schemas.microsoft.com/office/drawing/2014/main" val="1945852842"/>
                    </a:ext>
                  </a:extLst>
                </a:gridCol>
              </a:tblGrid>
              <a:tr h="591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RGB Datasets</a:t>
                      </a:r>
                    </a:p>
                  </a:txBody>
                  <a:tcPr>
                    <a:solidFill>
                      <a:schemeClr val="accent1">
                        <a:lumMod val="5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Thermal Datasets</a:t>
                      </a:r>
                    </a:p>
                  </a:txBody>
                  <a:tcPr>
                    <a:solidFill>
                      <a:schemeClr val="accent1"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2858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 RGB Camera (UI-3860LE-C-HQ)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Three thermal cameras (FLIR Lepton 2.5)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08123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1280 x 720 pixels - 10fps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of 60 x 80 pixels - 9 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4963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Placed on top of the incubator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Placed around the infants’ beds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7605"/>
                  </a:ext>
                </a:extLst>
              </a:tr>
              <a:tr h="648458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capture the head and upper body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Merged to observe infants from different directions simultaneously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11212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9-hour videos from 5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32-hour thermal videos from 13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57577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 PMA of 31.2 (2.1) weeks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 PMA of 36.7 (3.3) weeks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318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1C93E8A-DC84-4EAB-A0F4-4E96B7A63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804" y="5416369"/>
            <a:ext cx="8639240" cy="10248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5A5B88-5694-4F1B-A324-B7BDDC2C222F}"/>
              </a:ext>
            </a:extLst>
          </p:cNvPr>
          <p:cNvSpPr txBox="1"/>
          <p:nvPr/>
        </p:nvSpPr>
        <p:spPr>
          <a:xfrm>
            <a:off x="3040576" y="4910395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B54A0-1F71-4264-AF02-60E496342348}"/>
              </a:ext>
            </a:extLst>
          </p:cNvPr>
          <p:cNvSpPr/>
          <p:nvPr/>
        </p:nvSpPr>
        <p:spPr>
          <a:xfrm>
            <a:off x="12538947" y="4759770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148C25-7D11-4639-94BD-70480270A30A}"/>
              </a:ext>
            </a:extLst>
          </p:cNvPr>
          <p:cNvSpPr/>
          <p:nvPr/>
        </p:nvSpPr>
        <p:spPr>
          <a:xfrm>
            <a:off x="164099" y="3589488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D2DF36-3D14-4C81-A921-6441514EE6E9}"/>
              </a:ext>
            </a:extLst>
          </p:cNvPr>
          <p:cNvSpPr/>
          <p:nvPr/>
        </p:nvSpPr>
        <p:spPr>
          <a:xfrm>
            <a:off x="181034" y="4571619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A700E1-BFE5-4FCD-A86F-15A4E99F07F3}"/>
              </a:ext>
            </a:extLst>
          </p:cNvPr>
          <p:cNvSpPr/>
          <p:nvPr/>
        </p:nvSpPr>
        <p:spPr>
          <a:xfrm>
            <a:off x="197970" y="5519885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5CF246-A651-4589-B89F-CF2AEE40F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2550" y="2160875"/>
            <a:ext cx="8419246" cy="384680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CF172647-D2B1-484A-A006-6FDEEBBAEF00}"/>
              </a:ext>
            </a:extLst>
          </p:cNvPr>
          <p:cNvSpPr/>
          <p:nvPr/>
        </p:nvSpPr>
        <p:spPr>
          <a:xfrm rot="16200000">
            <a:off x="4564269" y="-764354"/>
            <a:ext cx="6226286" cy="8218758"/>
          </a:xfrm>
          <a:custGeom>
            <a:avLst/>
            <a:gdLst>
              <a:gd name="connsiteX0" fmla="*/ 0 w 6158552"/>
              <a:gd name="connsiteY0" fmla="*/ 0 h 8212492"/>
              <a:gd name="connsiteX1" fmla="*/ 6158552 w 6158552"/>
              <a:gd name="connsiteY1" fmla="*/ 0 h 8212492"/>
              <a:gd name="connsiteX2" fmla="*/ 6158552 w 6158552"/>
              <a:gd name="connsiteY2" fmla="*/ 8212492 h 8212492"/>
              <a:gd name="connsiteX3" fmla="*/ 0 w 6158552"/>
              <a:gd name="connsiteY3" fmla="*/ 8212492 h 8212492"/>
              <a:gd name="connsiteX4" fmla="*/ 0 w 6158552"/>
              <a:gd name="connsiteY4" fmla="*/ 0 h 8212492"/>
              <a:gd name="connsiteX0" fmla="*/ 0 w 6226286"/>
              <a:gd name="connsiteY0" fmla="*/ 0 h 8212492"/>
              <a:gd name="connsiteX1" fmla="*/ 6158552 w 6226286"/>
              <a:gd name="connsiteY1" fmla="*/ 0 h 8212492"/>
              <a:gd name="connsiteX2" fmla="*/ 6226286 w 6226286"/>
              <a:gd name="connsiteY2" fmla="*/ 8127826 h 8212492"/>
              <a:gd name="connsiteX3" fmla="*/ 0 w 6226286"/>
              <a:gd name="connsiteY3" fmla="*/ 8212492 h 8212492"/>
              <a:gd name="connsiteX4" fmla="*/ 0 w 6226286"/>
              <a:gd name="connsiteY4" fmla="*/ 0 h 8212492"/>
              <a:gd name="connsiteX0" fmla="*/ 0 w 6226286"/>
              <a:gd name="connsiteY0" fmla="*/ 6266 h 8218758"/>
              <a:gd name="connsiteX1" fmla="*/ 6158552 w 6226286"/>
              <a:gd name="connsiteY1" fmla="*/ 6266 h 8218758"/>
              <a:gd name="connsiteX2" fmla="*/ 6226286 w 6226286"/>
              <a:gd name="connsiteY2" fmla="*/ 8134092 h 8218758"/>
              <a:gd name="connsiteX3" fmla="*/ 0 w 6226286"/>
              <a:gd name="connsiteY3" fmla="*/ 8218758 h 8218758"/>
              <a:gd name="connsiteX4" fmla="*/ 0 w 6226286"/>
              <a:gd name="connsiteY4" fmla="*/ 6266 h 821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6286" h="8218758">
                <a:moveTo>
                  <a:pt x="0" y="6266"/>
                </a:moveTo>
                <a:lnTo>
                  <a:pt x="6158552" y="6266"/>
                </a:lnTo>
                <a:cubicBezTo>
                  <a:pt x="3691930" y="-213926"/>
                  <a:pt x="6203708" y="5424817"/>
                  <a:pt x="6226286" y="8134092"/>
                </a:cubicBezTo>
                <a:lnTo>
                  <a:pt x="0" y="8218758"/>
                </a:lnTo>
                <a:lnTo>
                  <a:pt x="0" y="6266"/>
                </a:lnTo>
                <a:close/>
              </a:path>
            </a:pathLst>
          </a:custGeom>
          <a:solidFill>
            <a:schemeClr val="bg1">
              <a:lumMod val="95000"/>
              <a:alpha val="6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D2BCCE-0324-4F98-9685-35F3C90BCC4C}"/>
              </a:ext>
            </a:extLst>
          </p:cNvPr>
          <p:cNvSpPr/>
          <p:nvPr/>
        </p:nvSpPr>
        <p:spPr>
          <a:xfrm>
            <a:off x="3881023" y="296005"/>
            <a:ext cx="2981774" cy="856787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8A178C-9AE0-42E0-9D12-6274BA7F0DCF}"/>
              </a:ext>
            </a:extLst>
          </p:cNvPr>
          <p:cNvSpPr/>
          <p:nvPr/>
        </p:nvSpPr>
        <p:spPr>
          <a:xfrm>
            <a:off x="3932528" y="379073"/>
            <a:ext cx="2876480" cy="702753"/>
          </a:xfrm>
          <a:prstGeom prst="rect">
            <a:avLst/>
          </a:prstGeom>
          <a:solidFill>
            <a:schemeClr val="accent2">
              <a:lumMod val="75000"/>
              <a:alpha val="64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5E7C98-7F9F-486F-84B2-83DD96326AB7}"/>
              </a:ext>
            </a:extLst>
          </p:cNvPr>
          <p:cNvSpPr/>
          <p:nvPr/>
        </p:nvSpPr>
        <p:spPr>
          <a:xfrm>
            <a:off x="12990095" y="402257"/>
            <a:ext cx="8419245" cy="1332848"/>
          </a:xfrm>
          <a:prstGeom prst="rect">
            <a:avLst/>
          </a:prstGeom>
          <a:solidFill>
            <a:schemeClr val="lt1">
              <a:alpha val="66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  Before apply to each methods, </a:t>
            </a:r>
          </a:p>
          <a:p>
            <a:pPr algn="l"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	Each frame was transformed into a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NimbusRomNo9L-Regu"/>
              </a:rPr>
              <a:t>grayscale image 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and normalized by a </a:t>
            </a:r>
            <a:r>
              <a:rPr lang="en-US" sz="1800" b="1" i="0" u="none" strike="noStrike" baseline="0" dirty="0">
                <a:solidFill>
                  <a:srgbClr val="FF0000"/>
                </a:solidFill>
                <a:latin typeface="NimbusRomNo9L-Regu"/>
              </a:rPr>
              <a:t>histogram equalization 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to improve efficiency and contrast.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5E7B86-B69B-43E7-93D2-C8EF43DE3123}"/>
              </a:ext>
            </a:extLst>
          </p:cNvPr>
          <p:cNvSpPr txBox="1"/>
          <p:nvPr/>
        </p:nvSpPr>
        <p:spPr>
          <a:xfrm>
            <a:off x="3818888" y="4369550"/>
            <a:ext cx="97410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The BS method uses the difference between the current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frame and a defined background model to detect the motion.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The background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model is needed to update to adapt to the impact of the changing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external environment such as light.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3164EB-C5D6-47E4-82CA-F79CE103F2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440" y="1524582"/>
            <a:ext cx="4913291" cy="259687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20707D9-5020-4F1D-963B-654B29C1B23C}"/>
              </a:ext>
            </a:extLst>
          </p:cNvPr>
          <p:cNvSpPr txBox="1"/>
          <p:nvPr/>
        </p:nvSpPr>
        <p:spPr>
          <a:xfrm>
            <a:off x="7281135" y="1748258"/>
            <a:ext cx="1548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THRESHOLD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5113DD-EC23-4D50-ABD0-748822F40C2F}"/>
              </a:ext>
            </a:extLst>
          </p:cNvPr>
          <p:cNvSpPr txBox="1"/>
          <p:nvPr/>
        </p:nvSpPr>
        <p:spPr>
          <a:xfrm>
            <a:off x="8615043" y="2109609"/>
            <a:ext cx="2311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Foreground mask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4319FD-9D4B-4EDC-90BD-4237DA7F93EC}"/>
              </a:ext>
            </a:extLst>
          </p:cNvPr>
          <p:cNvSpPr txBox="1"/>
          <p:nvPr/>
        </p:nvSpPr>
        <p:spPr>
          <a:xfrm>
            <a:off x="5123713" y="2909295"/>
            <a:ext cx="17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Background model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43EB14-2437-4147-8ED7-0D606F9F9C13}"/>
              </a:ext>
            </a:extLst>
          </p:cNvPr>
          <p:cNvSpPr txBox="1"/>
          <p:nvPr/>
        </p:nvSpPr>
        <p:spPr>
          <a:xfrm>
            <a:off x="5332218" y="1409532"/>
            <a:ext cx="1725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Current frame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1BDAE186-393D-47EC-94EF-6739565C82E4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32CDD242-DDED-424B-9355-486560061075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CBD97C2-101E-4721-9E9E-C350367740F9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5C796C11-E749-4DC5-9425-77AC0D50B2FC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6E5FB8BC-5A5E-4B44-9506-8C5ADC245FD5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1247CFAA-B0E4-4D28-B2F1-F9F0BF0C8832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AD7E63AF-B31A-4BC7-B026-0C064214FA52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FB39D932-CC0A-453F-833C-B41F7442443C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C3300E3C-1E63-4A0A-BA27-90C37389ED2D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11B460A2-7315-465F-8EFE-DAEF2113D3FA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F13C604D-2CD2-418A-AE83-38F7DA4C0D55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17090516-5A39-4F51-A777-A34FC7B01341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8E081650-A4D6-4369-AF5A-0E1E2E90A784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F92D151A-F57B-4EAB-9684-AB4C72D786FE}"/>
              </a:ext>
            </a:extLst>
          </p:cNvPr>
          <p:cNvSpPr/>
          <p:nvPr/>
        </p:nvSpPr>
        <p:spPr>
          <a:xfrm>
            <a:off x="1744072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781F1A-9F5D-4A32-B32F-20426666E64C}"/>
              </a:ext>
            </a:extLst>
          </p:cNvPr>
          <p:cNvSpPr txBox="1"/>
          <p:nvPr/>
        </p:nvSpPr>
        <p:spPr>
          <a:xfrm>
            <a:off x="1739278" y="6419309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7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42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602132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-308" r="5715" b="1093"/>
          <a:stretch/>
        </p:blipFill>
        <p:spPr>
          <a:xfrm>
            <a:off x="0" y="53904"/>
            <a:ext cx="12192000" cy="680409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30912" y="284338"/>
            <a:ext cx="2212296" cy="1412720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1190863" y="66390"/>
            <a:ext cx="931335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365268" y="744283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Methods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620567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30" y="1910342"/>
            <a:ext cx="7810595" cy="607306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02952C-3126-40E8-A3B0-066AD97650BE}"/>
              </a:ext>
            </a:extLst>
          </p:cNvPr>
          <p:cNvGraphicFramePr>
            <a:graphicFrameLocks noGrp="1"/>
          </p:cNvGraphicFramePr>
          <p:nvPr/>
        </p:nvGraphicFramePr>
        <p:xfrm>
          <a:off x="12636588" y="284340"/>
          <a:ext cx="8628038" cy="431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065">
                  <a:extLst>
                    <a:ext uri="{9D8B030D-6E8A-4147-A177-3AD203B41FA5}">
                      <a16:colId xmlns:a16="http://schemas.microsoft.com/office/drawing/2014/main" val="448151600"/>
                    </a:ext>
                  </a:extLst>
                </a:gridCol>
                <a:gridCol w="4415973">
                  <a:extLst>
                    <a:ext uri="{9D8B030D-6E8A-4147-A177-3AD203B41FA5}">
                      <a16:colId xmlns:a16="http://schemas.microsoft.com/office/drawing/2014/main" val="1945852842"/>
                    </a:ext>
                  </a:extLst>
                </a:gridCol>
              </a:tblGrid>
              <a:tr h="591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RGB Datasets</a:t>
                      </a:r>
                    </a:p>
                  </a:txBody>
                  <a:tcPr>
                    <a:solidFill>
                      <a:schemeClr val="accent1">
                        <a:lumMod val="5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Thermal Datasets</a:t>
                      </a:r>
                    </a:p>
                  </a:txBody>
                  <a:tcPr>
                    <a:solidFill>
                      <a:schemeClr val="accent1"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2858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 RGB Camera (UI-3860LE-C-HQ)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Three thermal cameras (FLIR Lepton 2.5)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08123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1280 x 720 pixels - 10fps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of 60 x 80 pixels - 9 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4963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Placed on top of the incubator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Placed around the infants’ beds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7605"/>
                  </a:ext>
                </a:extLst>
              </a:tr>
              <a:tr h="648458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capture the head and upper body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Merged to observe infants from different directions simultaneously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11212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9-hour videos from 5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32-hour thermal videos from 13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57577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 PMA of 31.2 (2.1) weeks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 PMA of 36.7 (3.3) weeks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318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1C93E8A-DC84-4EAB-A0F4-4E96B7A63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804" y="5416369"/>
            <a:ext cx="8639240" cy="10248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5A5B88-5694-4F1B-A324-B7BDDC2C222F}"/>
              </a:ext>
            </a:extLst>
          </p:cNvPr>
          <p:cNvSpPr txBox="1"/>
          <p:nvPr/>
        </p:nvSpPr>
        <p:spPr>
          <a:xfrm>
            <a:off x="3040576" y="4910395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B54A0-1F71-4264-AF02-60E496342348}"/>
              </a:ext>
            </a:extLst>
          </p:cNvPr>
          <p:cNvSpPr/>
          <p:nvPr/>
        </p:nvSpPr>
        <p:spPr>
          <a:xfrm>
            <a:off x="12538947" y="4759770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A700E1-BFE5-4FCD-A86F-15A4E99F07F3}"/>
              </a:ext>
            </a:extLst>
          </p:cNvPr>
          <p:cNvSpPr/>
          <p:nvPr/>
        </p:nvSpPr>
        <p:spPr>
          <a:xfrm>
            <a:off x="197970" y="5519885"/>
            <a:ext cx="2876480" cy="7027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5CF246-A651-4589-B89F-CF2AEE40F7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12550" y="2160875"/>
            <a:ext cx="8419246" cy="384680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ED2BCCE-0324-4F98-9685-35F3C90BCC4C}"/>
              </a:ext>
            </a:extLst>
          </p:cNvPr>
          <p:cNvSpPr/>
          <p:nvPr/>
        </p:nvSpPr>
        <p:spPr>
          <a:xfrm>
            <a:off x="3881023" y="296005"/>
            <a:ext cx="2981774" cy="856787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8A178C-9AE0-42E0-9D12-6274BA7F0DCF}"/>
              </a:ext>
            </a:extLst>
          </p:cNvPr>
          <p:cNvSpPr/>
          <p:nvPr/>
        </p:nvSpPr>
        <p:spPr>
          <a:xfrm>
            <a:off x="173331" y="2529606"/>
            <a:ext cx="2876480" cy="702753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172647-D2B1-484A-A006-6FDEEBBAEF00}"/>
              </a:ext>
            </a:extLst>
          </p:cNvPr>
          <p:cNvSpPr/>
          <p:nvPr/>
        </p:nvSpPr>
        <p:spPr>
          <a:xfrm rot="16200000">
            <a:off x="4564269" y="-764354"/>
            <a:ext cx="6226286" cy="8218758"/>
          </a:xfrm>
          <a:custGeom>
            <a:avLst/>
            <a:gdLst>
              <a:gd name="connsiteX0" fmla="*/ 0 w 6158552"/>
              <a:gd name="connsiteY0" fmla="*/ 0 h 8212492"/>
              <a:gd name="connsiteX1" fmla="*/ 6158552 w 6158552"/>
              <a:gd name="connsiteY1" fmla="*/ 0 h 8212492"/>
              <a:gd name="connsiteX2" fmla="*/ 6158552 w 6158552"/>
              <a:gd name="connsiteY2" fmla="*/ 8212492 h 8212492"/>
              <a:gd name="connsiteX3" fmla="*/ 0 w 6158552"/>
              <a:gd name="connsiteY3" fmla="*/ 8212492 h 8212492"/>
              <a:gd name="connsiteX4" fmla="*/ 0 w 6158552"/>
              <a:gd name="connsiteY4" fmla="*/ 0 h 8212492"/>
              <a:gd name="connsiteX0" fmla="*/ 0 w 6226286"/>
              <a:gd name="connsiteY0" fmla="*/ 0 h 8212492"/>
              <a:gd name="connsiteX1" fmla="*/ 6158552 w 6226286"/>
              <a:gd name="connsiteY1" fmla="*/ 0 h 8212492"/>
              <a:gd name="connsiteX2" fmla="*/ 6226286 w 6226286"/>
              <a:gd name="connsiteY2" fmla="*/ 8127826 h 8212492"/>
              <a:gd name="connsiteX3" fmla="*/ 0 w 6226286"/>
              <a:gd name="connsiteY3" fmla="*/ 8212492 h 8212492"/>
              <a:gd name="connsiteX4" fmla="*/ 0 w 6226286"/>
              <a:gd name="connsiteY4" fmla="*/ 0 h 8212492"/>
              <a:gd name="connsiteX0" fmla="*/ 0 w 6226286"/>
              <a:gd name="connsiteY0" fmla="*/ 6266 h 8218758"/>
              <a:gd name="connsiteX1" fmla="*/ 6158552 w 6226286"/>
              <a:gd name="connsiteY1" fmla="*/ 6266 h 8218758"/>
              <a:gd name="connsiteX2" fmla="*/ 6226286 w 6226286"/>
              <a:gd name="connsiteY2" fmla="*/ 8134092 h 8218758"/>
              <a:gd name="connsiteX3" fmla="*/ 0 w 6226286"/>
              <a:gd name="connsiteY3" fmla="*/ 8218758 h 8218758"/>
              <a:gd name="connsiteX4" fmla="*/ 0 w 6226286"/>
              <a:gd name="connsiteY4" fmla="*/ 6266 h 821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6286" h="8218758">
                <a:moveTo>
                  <a:pt x="0" y="6266"/>
                </a:moveTo>
                <a:lnTo>
                  <a:pt x="6158552" y="6266"/>
                </a:lnTo>
                <a:cubicBezTo>
                  <a:pt x="3691930" y="-213926"/>
                  <a:pt x="6203708" y="5424817"/>
                  <a:pt x="6226286" y="8134092"/>
                </a:cubicBezTo>
                <a:lnTo>
                  <a:pt x="0" y="8218758"/>
                </a:lnTo>
                <a:lnTo>
                  <a:pt x="0" y="6266"/>
                </a:lnTo>
                <a:close/>
              </a:path>
            </a:pathLst>
          </a:custGeom>
          <a:solidFill>
            <a:schemeClr val="bg1">
              <a:lumMod val="95000"/>
              <a:alpha val="6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6A1811-ED00-4AC4-836C-770967D18757}"/>
              </a:ext>
            </a:extLst>
          </p:cNvPr>
          <p:cNvSpPr/>
          <p:nvPr/>
        </p:nvSpPr>
        <p:spPr>
          <a:xfrm>
            <a:off x="3932528" y="375973"/>
            <a:ext cx="2876480" cy="702753"/>
          </a:xfrm>
          <a:prstGeom prst="rect">
            <a:avLst/>
          </a:prstGeom>
          <a:solidFill>
            <a:schemeClr val="accent2">
              <a:lumMod val="75000"/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bg1"/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3701D9-2807-4BC0-AE4B-2D7DA07BDF35}"/>
              </a:ext>
            </a:extLst>
          </p:cNvPr>
          <p:cNvSpPr/>
          <p:nvPr/>
        </p:nvSpPr>
        <p:spPr>
          <a:xfrm>
            <a:off x="7115286" y="296008"/>
            <a:ext cx="2981774" cy="856787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D2DF36-3D14-4C81-A921-6441514EE6E9}"/>
              </a:ext>
            </a:extLst>
          </p:cNvPr>
          <p:cNvSpPr/>
          <p:nvPr/>
        </p:nvSpPr>
        <p:spPr>
          <a:xfrm>
            <a:off x="7157229" y="365601"/>
            <a:ext cx="2876480" cy="702753"/>
          </a:xfrm>
          <a:prstGeom prst="rect">
            <a:avLst/>
          </a:prstGeom>
          <a:solidFill>
            <a:schemeClr val="accent2">
              <a:lumMod val="75000"/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CCD142-96C5-4393-B578-C01F479208F8}"/>
              </a:ext>
            </a:extLst>
          </p:cNvPr>
          <p:cNvSpPr txBox="1"/>
          <p:nvPr/>
        </p:nvSpPr>
        <p:spPr>
          <a:xfrm>
            <a:off x="3772114" y="3809130"/>
            <a:ext cx="78105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The optical flow method uses the change of tracking points (motion vector with direction) between consecutive frames to detect motion.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Depending on the density of pixels that are tracked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by the optical flow method, the method can be categorized into SOF and DOF.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SOF only need to compute optical flow of some pixels(features, corners of interest object) from the whole image, DOF computes all the pixels.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DFF2908-FF10-4A24-9449-0C999C54F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411880"/>
              </p:ext>
            </p:extLst>
          </p:nvPr>
        </p:nvGraphicFramePr>
        <p:xfrm>
          <a:off x="-12422188" y="2605088"/>
          <a:ext cx="21764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Packager Shell Object" showAsIcon="1" r:id="rId9" imgW="2175840" imgH="488520" progId="Package">
                  <p:embed/>
                </p:oleObj>
              </mc:Choice>
              <mc:Fallback>
                <p:oleObj name="Packager Shell Object" showAsIcon="1" r:id="rId9" imgW="2175840" imgH="4885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12422188" y="2605088"/>
                        <a:ext cx="2176463" cy="48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7" name="Picture 46">
            <a:extLst>
              <a:ext uri="{FF2B5EF4-FFF2-40B4-BE49-F238E27FC236}">
                <a16:creationId xmlns:a16="http://schemas.microsoft.com/office/drawing/2014/main" id="{F87B6622-0DC9-4861-81B7-F136A02F933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" t="2633" r="51654" b="10909"/>
          <a:stretch/>
        </p:blipFill>
        <p:spPr>
          <a:xfrm>
            <a:off x="4557251" y="1771514"/>
            <a:ext cx="2599977" cy="1460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1E1EE-0E6E-451B-B89E-17FF329F6CC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9" t="6128" r="1067" b="10923"/>
          <a:stretch/>
        </p:blipFill>
        <p:spPr>
          <a:xfrm>
            <a:off x="8120326" y="1716473"/>
            <a:ext cx="2733261" cy="147393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F132038-0EB5-4DC8-87EA-0929317797F2}"/>
              </a:ext>
            </a:extLst>
          </p:cNvPr>
          <p:cNvSpPr txBox="1"/>
          <p:nvPr/>
        </p:nvSpPr>
        <p:spPr>
          <a:xfrm>
            <a:off x="4763492" y="3313475"/>
            <a:ext cx="1981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B0604020202020204" pitchFamily="2" charset="0"/>
              </a:rPr>
              <a:t>(A)</a:t>
            </a:r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Sparse optical flow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CAAC3E-4A17-4053-AC4C-02DADBA8C934}"/>
              </a:ext>
            </a:extLst>
          </p:cNvPr>
          <p:cNvSpPr txBox="1"/>
          <p:nvPr/>
        </p:nvSpPr>
        <p:spPr>
          <a:xfrm>
            <a:off x="8425259" y="3345024"/>
            <a:ext cx="1981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B0604020202020204" pitchFamily="2" charset="0"/>
              </a:rPr>
              <a:t>(A)Dense</a:t>
            </a:r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B0604020202020204" pitchFamily="2" charset="0"/>
              </a:rPr>
              <a:t> optical flow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6E3C495C-5F6C-4FF8-B0F1-795C02A57627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7F92F046-BFCD-4A8A-BA34-A7DA4FA571D3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AA1AA222-47D1-47BF-879D-E39500BEB30C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B73B6A24-DE45-4D28-82AE-040A8B073A08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6CB7D74D-E0CF-467F-AC7B-ACB99D9BCC79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C3A1B72B-5461-4247-958B-F131F82AAEB9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1EC144E9-4E81-4D32-965D-01D16EC1BFFC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56960323-1887-4A01-BBDC-E0544FABD396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CD975B2B-BBCB-4663-8567-E38308DB59D9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D258A16B-CF3F-4200-ACA4-E929DA78A6B6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C921D4E8-4856-490B-BB2C-87BA71C27B75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AB1372A0-0089-4D8C-8242-4E51CBF144F9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035695C3-F044-4FB8-A6FE-82C5A5DA7D78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5DBCADFC-C158-4B20-ACD9-999C077F4FB1}"/>
              </a:ext>
            </a:extLst>
          </p:cNvPr>
          <p:cNvSpPr/>
          <p:nvPr/>
        </p:nvSpPr>
        <p:spPr>
          <a:xfrm>
            <a:off x="2009538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51F02E-38C6-45EA-BF6F-7B77EA1B1BB4}"/>
              </a:ext>
            </a:extLst>
          </p:cNvPr>
          <p:cNvSpPr txBox="1"/>
          <p:nvPr/>
        </p:nvSpPr>
        <p:spPr>
          <a:xfrm>
            <a:off x="2004757" y="6419309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8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38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602132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t="-308" r="5715" b="1093"/>
          <a:stretch/>
        </p:blipFill>
        <p:spPr>
          <a:xfrm>
            <a:off x="0" y="53904"/>
            <a:ext cx="12192000" cy="6804096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30912" y="284338"/>
            <a:ext cx="2212296" cy="1412720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1190863" y="66390"/>
            <a:ext cx="931335" cy="1848421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365268" y="744283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Methods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620567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30" y="1910342"/>
            <a:ext cx="7810595" cy="6073067"/>
          </a:xfrm>
          <a:prstGeom prst="rect">
            <a:avLst/>
          </a:prstGeom>
        </p:spPr>
      </p:pic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02952C-3126-40E8-A3B0-066AD97650BE}"/>
              </a:ext>
            </a:extLst>
          </p:cNvPr>
          <p:cNvGraphicFramePr>
            <a:graphicFrameLocks noGrp="1"/>
          </p:cNvGraphicFramePr>
          <p:nvPr/>
        </p:nvGraphicFramePr>
        <p:xfrm>
          <a:off x="12636588" y="284340"/>
          <a:ext cx="8628038" cy="431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065">
                  <a:extLst>
                    <a:ext uri="{9D8B030D-6E8A-4147-A177-3AD203B41FA5}">
                      <a16:colId xmlns:a16="http://schemas.microsoft.com/office/drawing/2014/main" val="448151600"/>
                    </a:ext>
                  </a:extLst>
                </a:gridCol>
                <a:gridCol w="4415973">
                  <a:extLst>
                    <a:ext uri="{9D8B030D-6E8A-4147-A177-3AD203B41FA5}">
                      <a16:colId xmlns:a16="http://schemas.microsoft.com/office/drawing/2014/main" val="1945852842"/>
                    </a:ext>
                  </a:extLst>
                </a:gridCol>
              </a:tblGrid>
              <a:tr h="5919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RGB Datasets</a:t>
                      </a:r>
                    </a:p>
                  </a:txBody>
                  <a:tcPr>
                    <a:solidFill>
                      <a:schemeClr val="accent1">
                        <a:lumMod val="5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Thermal Datasets</a:t>
                      </a:r>
                    </a:p>
                  </a:txBody>
                  <a:tcPr>
                    <a:solidFill>
                      <a:schemeClr val="accent1"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2858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 RGB Camera (UI-3860LE-C-HQ)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Three thermal cameras (FLIR Lepton 2.5)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08123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1280 x 720 pixels - 10fps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Resolution of 60 x 80 pixels - 9 fps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49639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Placed on top of the incubator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algn="l"/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Placed around the infants’ beds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7605"/>
                  </a:ext>
                </a:extLst>
              </a:tr>
              <a:tr h="648458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capture the head and upper body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Merged to observe infants from different directions simultaneously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11212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9-hour videos from 5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32-hour thermal videos from 13 infants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57577"/>
                  </a:ext>
                </a:extLst>
              </a:tr>
              <a:tr h="591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Mean PMA of 31.2 (2.1) weeks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 PMA of 36.7 (3.3) weeks</a:t>
                      </a:r>
                      <a:endParaRPr lang="en-US" sz="2000" b="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tint val="20000"/>
                        <a:alpha val="9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3185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1C93E8A-DC84-4EAB-A0F4-4E96B7A63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804" y="5416369"/>
            <a:ext cx="8639240" cy="102486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95A5B88-5694-4F1B-A324-B7BDDC2C222F}"/>
              </a:ext>
            </a:extLst>
          </p:cNvPr>
          <p:cNvSpPr txBox="1"/>
          <p:nvPr/>
        </p:nvSpPr>
        <p:spPr>
          <a:xfrm>
            <a:off x="3040576" y="4910395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4B54A0-1F71-4264-AF02-60E496342348}"/>
              </a:ext>
            </a:extLst>
          </p:cNvPr>
          <p:cNvSpPr/>
          <p:nvPr/>
        </p:nvSpPr>
        <p:spPr>
          <a:xfrm>
            <a:off x="12538947" y="4759770"/>
            <a:ext cx="4542906" cy="627679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Three classes that focus on . . 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5CF246-A651-4589-B89F-CF2AEE40F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2550" y="2160875"/>
            <a:ext cx="8419246" cy="384680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ED2BCCE-0324-4F98-9685-35F3C90BCC4C}"/>
              </a:ext>
            </a:extLst>
          </p:cNvPr>
          <p:cNvSpPr/>
          <p:nvPr/>
        </p:nvSpPr>
        <p:spPr>
          <a:xfrm>
            <a:off x="3895917" y="286451"/>
            <a:ext cx="2981774" cy="856787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8A178C-9AE0-42E0-9D12-6274BA7F0DCF}"/>
              </a:ext>
            </a:extLst>
          </p:cNvPr>
          <p:cNvSpPr/>
          <p:nvPr/>
        </p:nvSpPr>
        <p:spPr>
          <a:xfrm>
            <a:off x="173331" y="2529606"/>
            <a:ext cx="2876480" cy="702753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172647-D2B1-484A-A006-6FDEEBBAEF00}"/>
              </a:ext>
            </a:extLst>
          </p:cNvPr>
          <p:cNvSpPr/>
          <p:nvPr/>
        </p:nvSpPr>
        <p:spPr>
          <a:xfrm rot="16200000">
            <a:off x="4564269" y="-764354"/>
            <a:ext cx="6226286" cy="8218758"/>
          </a:xfrm>
          <a:custGeom>
            <a:avLst/>
            <a:gdLst>
              <a:gd name="connsiteX0" fmla="*/ 0 w 6158552"/>
              <a:gd name="connsiteY0" fmla="*/ 0 h 8212492"/>
              <a:gd name="connsiteX1" fmla="*/ 6158552 w 6158552"/>
              <a:gd name="connsiteY1" fmla="*/ 0 h 8212492"/>
              <a:gd name="connsiteX2" fmla="*/ 6158552 w 6158552"/>
              <a:gd name="connsiteY2" fmla="*/ 8212492 h 8212492"/>
              <a:gd name="connsiteX3" fmla="*/ 0 w 6158552"/>
              <a:gd name="connsiteY3" fmla="*/ 8212492 h 8212492"/>
              <a:gd name="connsiteX4" fmla="*/ 0 w 6158552"/>
              <a:gd name="connsiteY4" fmla="*/ 0 h 8212492"/>
              <a:gd name="connsiteX0" fmla="*/ 0 w 6226286"/>
              <a:gd name="connsiteY0" fmla="*/ 0 h 8212492"/>
              <a:gd name="connsiteX1" fmla="*/ 6158552 w 6226286"/>
              <a:gd name="connsiteY1" fmla="*/ 0 h 8212492"/>
              <a:gd name="connsiteX2" fmla="*/ 6226286 w 6226286"/>
              <a:gd name="connsiteY2" fmla="*/ 8127826 h 8212492"/>
              <a:gd name="connsiteX3" fmla="*/ 0 w 6226286"/>
              <a:gd name="connsiteY3" fmla="*/ 8212492 h 8212492"/>
              <a:gd name="connsiteX4" fmla="*/ 0 w 6226286"/>
              <a:gd name="connsiteY4" fmla="*/ 0 h 8212492"/>
              <a:gd name="connsiteX0" fmla="*/ 0 w 6226286"/>
              <a:gd name="connsiteY0" fmla="*/ 6266 h 8218758"/>
              <a:gd name="connsiteX1" fmla="*/ 6158552 w 6226286"/>
              <a:gd name="connsiteY1" fmla="*/ 6266 h 8218758"/>
              <a:gd name="connsiteX2" fmla="*/ 6226286 w 6226286"/>
              <a:gd name="connsiteY2" fmla="*/ 8134092 h 8218758"/>
              <a:gd name="connsiteX3" fmla="*/ 0 w 6226286"/>
              <a:gd name="connsiteY3" fmla="*/ 8218758 h 8218758"/>
              <a:gd name="connsiteX4" fmla="*/ 0 w 6226286"/>
              <a:gd name="connsiteY4" fmla="*/ 6266 h 821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6286" h="8218758">
                <a:moveTo>
                  <a:pt x="0" y="6266"/>
                </a:moveTo>
                <a:lnTo>
                  <a:pt x="6158552" y="6266"/>
                </a:lnTo>
                <a:cubicBezTo>
                  <a:pt x="3691930" y="-213926"/>
                  <a:pt x="6203708" y="5424817"/>
                  <a:pt x="6226286" y="8134092"/>
                </a:cubicBezTo>
                <a:lnTo>
                  <a:pt x="0" y="8218758"/>
                </a:lnTo>
                <a:lnTo>
                  <a:pt x="0" y="6266"/>
                </a:lnTo>
                <a:close/>
              </a:path>
            </a:pathLst>
          </a:custGeom>
          <a:solidFill>
            <a:schemeClr val="bg1">
              <a:lumMod val="95000"/>
              <a:alpha val="6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6A1811-ED00-4AC4-836C-770967D18757}"/>
              </a:ext>
            </a:extLst>
          </p:cNvPr>
          <p:cNvSpPr/>
          <p:nvPr/>
        </p:nvSpPr>
        <p:spPr>
          <a:xfrm>
            <a:off x="157882" y="3508863"/>
            <a:ext cx="2876480" cy="702753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D2DF36-3D14-4C81-A921-6441514EE6E9}"/>
              </a:ext>
            </a:extLst>
          </p:cNvPr>
          <p:cNvSpPr/>
          <p:nvPr/>
        </p:nvSpPr>
        <p:spPr>
          <a:xfrm>
            <a:off x="161211" y="4559018"/>
            <a:ext cx="2876480" cy="702753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A700E1-BFE5-4FCD-A86F-15A4E99F07F3}"/>
              </a:ext>
            </a:extLst>
          </p:cNvPr>
          <p:cNvSpPr/>
          <p:nvPr/>
        </p:nvSpPr>
        <p:spPr>
          <a:xfrm>
            <a:off x="3942614" y="379672"/>
            <a:ext cx="2876480" cy="702753"/>
          </a:xfrm>
          <a:prstGeom prst="rect">
            <a:avLst/>
          </a:prstGeom>
          <a:solidFill>
            <a:schemeClr val="accent2">
              <a:lumMod val="75000"/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519B4A-2024-4CE5-9463-0F8E5090E7F7}"/>
              </a:ext>
            </a:extLst>
          </p:cNvPr>
          <p:cNvSpPr txBox="1"/>
          <p:nvPr/>
        </p:nvSpPr>
        <p:spPr>
          <a:xfrm>
            <a:off x="3842882" y="4523107"/>
            <a:ext cx="78105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ORB first find features.( finds pixels that are significantly different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from neighbor pixels in a frame as tracking points.)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Afterwards, these tracking points in two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consecutive frames are compared whether it is matched or not.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8F5B154-33CF-4EE2-907D-6358ECFC88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685" y="7424784"/>
            <a:ext cx="2236627" cy="223662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0D56F81-FA4F-44C4-A0C4-34829CF73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29895" y="7446032"/>
            <a:ext cx="2178504" cy="217850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46A42A-D423-4A36-B62D-357D7FC430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" y="7218041"/>
            <a:ext cx="1905000" cy="240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DAFB8-07A6-43F3-AC76-B4FEF8DA396A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" t="4700" r="54301" b="7853"/>
          <a:stretch/>
        </p:blipFill>
        <p:spPr>
          <a:xfrm>
            <a:off x="4308399" y="1781204"/>
            <a:ext cx="2912506" cy="2482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4F0BF-AF49-435D-9064-2C86F92F1FB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07" t="6522" r="1127" b="6232"/>
          <a:stretch/>
        </p:blipFill>
        <p:spPr>
          <a:xfrm>
            <a:off x="7922805" y="1744569"/>
            <a:ext cx="2946599" cy="2476416"/>
          </a:xfrm>
          <a:prstGeom prst="rect">
            <a:avLst/>
          </a:prstGeom>
        </p:spPr>
      </p:pic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36D737EA-2E1E-4F9A-837C-8D9AAC33E6D7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0FF4CB74-F683-4761-98F0-AEAA357D4F3F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261A787F-9A72-411E-B70C-970F4F04E744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1E2E7800-BF0A-4186-A41C-44839C2DEB20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128DD918-B09E-43CE-8B07-0FCD2B0015C8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0E4213BE-48C3-4312-B2A7-9A24FD87A027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B6E80869-F44E-4D30-9C87-6CA84C6844CE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78090F53-CAC7-4F3F-8B74-6DD5DAC29327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24F967BA-BFCB-4031-8282-E2678239B7F6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7D48A2C9-CBF0-4C81-BE2B-62985CF1348D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lowchart: Connector 64">
            <a:extLst>
              <a:ext uri="{FF2B5EF4-FFF2-40B4-BE49-F238E27FC236}">
                <a16:creationId xmlns:a16="http://schemas.microsoft.com/office/drawing/2014/main" id="{CB3600A0-C18B-45A4-81CC-387BA777A4FE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745DD745-8750-4D63-BBA9-543C63BA7FA4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lowchart: Connector 66">
            <a:extLst>
              <a:ext uri="{FF2B5EF4-FFF2-40B4-BE49-F238E27FC236}">
                <a16:creationId xmlns:a16="http://schemas.microsoft.com/office/drawing/2014/main" id="{82C488F7-56A2-4218-82E0-A9E22E701963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A49ACEC1-0E01-4E53-96DC-94D4AA5EEFDB}"/>
              </a:ext>
            </a:extLst>
          </p:cNvPr>
          <p:cNvSpPr/>
          <p:nvPr/>
        </p:nvSpPr>
        <p:spPr>
          <a:xfrm>
            <a:off x="2260257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DBB913-6411-4855-8264-3F3C3D28CF7E}"/>
              </a:ext>
            </a:extLst>
          </p:cNvPr>
          <p:cNvSpPr txBox="1"/>
          <p:nvPr/>
        </p:nvSpPr>
        <p:spPr>
          <a:xfrm>
            <a:off x="2255473" y="6419309"/>
            <a:ext cx="283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</a:rPr>
              <a:t>9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06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4354FE-D4A6-4216-82FA-C6AFF27A05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" t="18769" b="56553"/>
          <a:stretch/>
        </p:blipFill>
        <p:spPr>
          <a:xfrm>
            <a:off x="0" y="4706058"/>
            <a:ext cx="12192000" cy="2151942"/>
          </a:xfrm>
          <a:prstGeom prst="rect">
            <a:avLst/>
          </a:prstGeom>
        </p:spPr>
      </p:pic>
      <p:sp>
        <p:nvSpPr>
          <p:cNvPr id="63" name="Rectangle 38">
            <a:extLst>
              <a:ext uri="{FF2B5EF4-FFF2-40B4-BE49-F238E27FC236}">
                <a16:creationId xmlns:a16="http://schemas.microsoft.com/office/drawing/2014/main" id="{6A8EB412-44ED-426B-8A1A-45F0A84AD058}"/>
              </a:ext>
            </a:extLst>
          </p:cNvPr>
          <p:cNvSpPr/>
          <p:nvPr/>
        </p:nvSpPr>
        <p:spPr>
          <a:xfrm rot="16200000">
            <a:off x="13971486" y="-764354"/>
            <a:ext cx="6226286" cy="8218758"/>
          </a:xfrm>
          <a:custGeom>
            <a:avLst/>
            <a:gdLst>
              <a:gd name="connsiteX0" fmla="*/ 0 w 6158552"/>
              <a:gd name="connsiteY0" fmla="*/ 0 h 8212492"/>
              <a:gd name="connsiteX1" fmla="*/ 6158552 w 6158552"/>
              <a:gd name="connsiteY1" fmla="*/ 0 h 8212492"/>
              <a:gd name="connsiteX2" fmla="*/ 6158552 w 6158552"/>
              <a:gd name="connsiteY2" fmla="*/ 8212492 h 8212492"/>
              <a:gd name="connsiteX3" fmla="*/ 0 w 6158552"/>
              <a:gd name="connsiteY3" fmla="*/ 8212492 h 8212492"/>
              <a:gd name="connsiteX4" fmla="*/ 0 w 6158552"/>
              <a:gd name="connsiteY4" fmla="*/ 0 h 8212492"/>
              <a:gd name="connsiteX0" fmla="*/ 0 w 6226286"/>
              <a:gd name="connsiteY0" fmla="*/ 0 h 8212492"/>
              <a:gd name="connsiteX1" fmla="*/ 6158552 w 6226286"/>
              <a:gd name="connsiteY1" fmla="*/ 0 h 8212492"/>
              <a:gd name="connsiteX2" fmla="*/ 6226286 w 6226286"/>
              <a:gd name="connsiteY2" fmla="*/ 8127826 h 8212492"/>
              <a:gd name="connsiteX3" fmla="*/ 0 w 6226286"/>
              <a:gd name="connsiteY3" fmla="*/ 8212492 h 8212492"/>
              <a:gd name="connsiteX4" fmla="*/ 0 w 6226286"/>
              <a:gd name="connsiteY4" fmla="*/ 0 h 8212492"/>
              <a:gd name="connsiteX0" fmla="*/ 0 w 6226286"/>
              <a:gd name="connsiteY0" fmla="*/ 6266 h 8218758"/>
              <a:gd name="connsiteX1" fmla="*/ 6158552 w 6226286"/>
              <a:gd name="connsiteY1" fmla="*/ 6266 h 8218758"/>
              <a:gd name="connsiteX2" fmla="*/ 6226286 w 6226286"/>
              <a:gd name="connsiteY2" fmla="*/ 8134092 h 8218758"/>
              <a:gd name="connsiteX3" fmla="*/ 0 w 6226286"/>
              <a:gd name="connsiteY3" fmla="*/ 8218758 h 8218758"/>
              <a:gd name="connsiteX4" fmla="*/ 0 w 6226286"/>
              <a:gd name="connsiteY4" fmla="*/ 6266 h 821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6286" h="8218758">
                <a:moveTo>
                  <a:pt x="0" y="6266"/>
                </a:moveTo>
                <a:lnTo>
                  <a:pt x="6158552" y="6266"/>
                </a:lnTo>
                <a:cubicBezTo>
                  <a:pt x="3691930" y="-213926"/>
                  <a:pt x="6203708" y="5424817"/>
                  <a:pt x="6226286" y="8134092"/>
                </a:cubicBezTo>
                <a:lnTo>
                  <a:pt x="0" y="8218758"/>
                </a:lnTo>
                <a:lnTo>
                  <a:pt x="0" y="6266"/>
                </a:lnTo>
                <a:close/>
              </a:path>
            </a:pathLst>
          </a:custGeom>
          <a:solidFill>
            <a:schemeClr val="bg1">
              <a:lumMod val="95000"/>
              <a:alpha val="69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111066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t="35773" r="9475" b="5300"/>
          <a:stretch/>
        </p:blipFill>
        <p:spPr>
          <a:xfrm>
            <a:off x="-1" y="-18883"/>
            <a:ext cx="12192001" cy="434581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627476" y="508762"/>
            <a:ext cx="10837334" cy="708316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5823606" y="-4401082"/>
            <a:ext cx="477054" cy="10516548"/>
          </a:xfrm>
          <a:prstGeom prst="rect">
            <a:avLst/>
          </a:prstGeom>
          <a:solidFill>
            <a:schemeClr val="bg1">
              <a:lumMod val="50000"/>
              <a:alpha val="2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4637429" y="663072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Evaluation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756032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963" y="1910342"/>
            <a:ext cx="7810595" cy="6073067"/>
          </a:xfrm>
          <a:prstGeom prst="rect">
            <a:avLst/>
          </a:prstGeom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9BFB838-8FA6-4B4F-96B9-F04AA7D3AFD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476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08E5FE-923F-47F6-819B-3362572BA720}"/>
              </a:ext>
            </a:extLst>
          </p:cNvPr>
          <p:cNvSpPr/>
          <p:nvPr/>
        </p:nvSpPr>
        <p:spPr>
          <a:xfrm>
            <a:off x="896369" y="1642023"/>
            <a:ext cx="10424038" cy="1669200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Two experiment-motion detection &amp; Gross motion detection.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Motion Detection is a combination of Gross motion and fine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Gross Motion Detection is only gross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2F3F8A-F262-4890-8DD3-751EBEACA9A7}"/>
              </a:ext>
            </a:extLst>
          </p:cNvPr>
          <p:cNvSpPr/>
          <p:nvPr/>
        </p:nvSpPr>
        <p:spPr>
          <a:xfrm>
            <a:off x="3124685" y="5114309"/>
            <a:ext cx="8616189" cy="150995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		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U</a:t>
            </a: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sing Python 3.8.3 with </a:t>
            </a:r>
            <a:r>
              <a:rPr lang="en-US" sz="1800" b="1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opencv</a:t>
            </a: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-</a:t>
            </a:r>
            <a:r>
              <a:rPr lang="en-US" sz="1800" b="1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contrib</a:t>
            </a: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-python 4.5.5.62 (CPU-only)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		</a:t>
            </a: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on a CPU of 2.60GHz (Intel Core i7-9750H) 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NimbusRomNo9L-Regu"/>
            </a:endParaRP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		with no architecture specific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 </a:t>
            </a:r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instruction.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082AA6-1E19-400A-B834-804E482336FF}"/>
              </a:ext>
            </a:extLst>
          </p:cNvPr>
          <p:cNvSpPr/>
          <p:nvPr/>
        </p:nvSpPr>
        <p:spPr>
          <a:xfrm>
            <a:off x="3601093" y="5277690"/>
            <a:ext cx="1060392" cy="1044263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497F45-9553-4894-8D48-86C08E27B6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81" y="5300916"/>
            <a:ext cx="959211" cy="100739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3ADD2D0-BEC8-462C-ACE4-1221DF8BD788}"/>
              </a:ext>
            </a:extLst>
          </p:cNvPr>
          <p:cNvSpPr/>
          <p:nvPr/>
        </p:nvSpPr>
        <p:spPr>
          <a:xfrm>
            <a:off x="13303134" y="286451"/>
            <a:ext cx="2981774" cy="856787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C858982-3031-4A1D-AA7F-158664BECE78}"/>
              </a:ext>
            </a:extLst>
          </p:cNvPr>
          <p:cNvSpPr/>
          <p:nvPr/>
        </p:nvSpPr>
        <p:spPr>
          <a:xfrm>
            <a:off x="-3234884" y="2529606"/>
            <a:ext cx="2876480" cy="702753"/>
          </a:xfrm>
          <a:prstGeom prst="rect">
            <a:avLst/>
          </a:prstGeom>
          <a:solidFill>
            <a:schemeClr val="bg1">
              <a:alpha val="64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Background Substruction (BS)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24BAD9-8959-449D-B44E-D24CD6695EE4}"/>
              </a:ext>
            </a:extLst>
          </p:cNvPr>
          <p:cNvSpPr/>
          <p:nvPr/>
        </p:nvSpPr>
        <p:spPr>
          <a:xfrm>
            <a:off x="-3250333" y="3508863"/>
            <a:ext cx="2876480" cy="702753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S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parse Optical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F</a:t>
            </a:r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"/>
              </a:rPr>
              <a:t>low (SOF)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36982AA-410B-4C6A-A554-4DF97D7B2024}"/>
              </a:ext>
            </a:extLst>
          </p:cNvPr>
          <p:cNvSpPr/>
          <p:nvPr/>
        </p:nvSpPr>
        <p:spPr>
          <a:xfrm>
            <a:off x="-3247004" y="4559018"/>
            <a:ext cx="2876480" cy="702753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NimbusRomNo9L-ReguItal"/>
              </a:rPr>
              <a:t>Dense Optical Flow (DOF)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17C04B-54F8-45D3-9F33-E302E8D5C290}"/>
              </a:ext>
            </a:extLst>
          </p:cNvPr>
          <p:cNvSpPr/>
          <p:nvPr/>
        </p:nvSpPr>
        <p:spPr>
          <a:xfrm>
            <a:off x="13349831" y="379672"/>
            <a:ext cx="2876480" cy="702753"/>
          </a:xfrm>
          <a:prstGeom prst="rect">
            <a:avLst/>
          </a:prstGeom>
          <a:solidFill>
            <a:schemeClr val="accent2">
              <a:lumMod val="75000"/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bg1"/>
                </a:solidFill>
                <a:latin typeface="NimbusRomNo9L-Regu"/>
              </a:rPr>
              <a:t>Oriented FAST and Rotated BRIEF (ORB).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CA675A-8708-4C66-AA2C-14F02592A42C}"/>
              </a:ext>
            </a:extLst>
          </p:cNvPr>
          <p:cNvSpPr txBox="1"/>
          <p:nvPr/>
        </p:nvSpPr>
        <p:spPr>
          <a:xfrm>
            <a:off x="13250099" y="4523107"/>
            <a:ext cx="78105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ORB first find features.( finds pixels that are significantly different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from neighbor pixels in a frame as tracking points.)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Afterwards, these tracking points in two 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consecutive frames are compared whether it is matched or not.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3324FDF-C4A3-4980-8325-E32379865127}"/>
              </a:ext>
            </a:extLst>
          </p:cNvPr>
          <p:cNvSpPr/>
          <p:nvPr/>
        </p:nvSpPr>
        <p:spPr>
          <a:xfrm>
            <a:off x="14325439" y="340066"/>
            <a:ext cx="4024006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In the thermal dataset, BS outperforms the other methods with mean (SD) AUCs             of 0.86 (0.03) and 0.93 (0.03) for both experiments.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BECF095-1575-4A87-A673-1ED23B303E53}"/>
              </a:ext>
            </a:extLst>
          </p:cNvPr>
          <p:cNvSpPr/>
          <p:nvPr/>
        </p:nvSpPr>
        <p:spPr>
          <a:xfrm>
            <a:off x="14379428" y="1747255"/>
            <a:ext cx="3944993" cy="948395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SOF performs best for motion detection and is as good as DOF when detecting gross motion.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4EAB31A-FAAA-44D7-AC69-B650EC62671D}"/>
              </a:ext>
            </a:extLst>
          </p:cNvPr>
          <p:cNvSpPr/>
          <p:nvPr/>
        </p:nvSpPr>
        <p:spPr>
          <a:xfrm>
            <a:off x="14325439" y="2817927"/>
            <a:ext cx="4024006" cy="1187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performance of SOF and ORB increases with higher video resolution, but has little influence on the performance of DOF.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3545A71-0915-4D82-8A99-4E3ADB9784B3}"/>
              </a:ext>
            </a:extLst>
          </p:cNvPr>
          <p:cNvSpPr/>
          <p:nvPr/>
        </p:nvSpPr>
        <p:spPr>
          <a:xfrm>
            <a:off x="14412332" y="5465728"/>
            <a:ext cx="3950038" cy="1222932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The run time does not differ per method for the thermal data, which has a low resolution.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2375783-E0EB-4F68-AFD0-3719FECA0474}"/>
              </a:ext>
            </a:extLst>
          </p:cNvPr>
          <p:cNvSpPr/>
          <p:nvPr/>
        </p:nvSpPr>
        <p:spPr>
          <a:xfrm>
            <a:off x="14325439" y="4160972"/>
            <a:ext cx="4036931" cy="1177099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the run time is always higher, particularly the run time of DOF increases largely at high resolution.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ED524B7-489B-44D3-B123-E291E9FCB2FA}"/>
              </a:ext>
            </a:extLst>
          </p:cNvPr>
          <p:cNvSpPr/>
          <p:nvPr/>
        </p:nvSpPr>
        <p:spPr>
          <a:xfrm>
            <a:off x="13844491" y="1762989"/>
            <a:ext cx="534938" cy="936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2C1DAE1-5D4F-47B0-A9FC-CD16311F2D25}"/>
              </a:ext>
            </a:extLst>
          </p:cNvPr>
          <p:cNvSpPr/>
          <p:nvPr/>
        </p:nvSpPr>
        <p:spPr>
          <a:xfrm>
            <a:off x="13833119" y="338403"/>
            <a:ext cx="534938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999C5E4-03F4-423A-9527-E39D898061C6}"/>
              </a:ext>
            </a:extLst>
          </p:cNvPr>
          <p:cNvSpPr/>
          <p:nvPr/>
        </p:nvSpPr>
        <p:spPr>
          <a:xfrm>
            <a:off x="13846763" y="2811993"/>
            <a:ext cx="534938" cy="1171164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9C18A22-E419-472F-B8A1-16F74D4B9A27}"/>
              </a:ext>
            </a:extLst>
          </p:cNvPr>
          <p:cNvSpPr/>
          <p:nvPr/>
        </p:nvSpPr>
        <p:spPr>
          <a:xfrm>
            <a:off x="13862684" y="4166908"/>
            <a:ext cx="462756" cy="117116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959C03B-1B08-4ABD-81B0-44B31B3E5AD3}"/>
              </a:ext>
            </a:extLst>
          </p:cNvPr>
          <p:cNvSpPr/>
          <p:nvPr/>
        </p:nvSpPr>
        <p:spPr>
          <a:xfrm>
            <a:off x="13881025" y="5458337"/>
            <a:ext cx="527316" cy="123032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972729B-5DA0-4D7D-9A2C-0A749F5950D6}"/>
              </a:ext>
            </a:extLst>
          </p:cNvPr>
          <p:cNvSpPr/>
          <p:nvPr/>
        </p:nvSpPr>
        <p:spPr>
          <a:xfrm>
            <a:off x="14019783" y="479952"/>
            <a:ext cx="255641" cy="1022712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1B69F5D-CD7D-49AB-B6E9-7811B1682FA6}"/>
              </a:ext>
            </a:extLst>
          </p:cNvPr>
          <p:cNvSpPr/>
          <p:nvPr/>
        </p:nvSpPr>
        <p:spPr>
          <a:xfrm>
            <a:off x="14022057" y="1881791"/>
            <a:ext cx="253367" cy="734489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011620B-65BE-4CEE-A3DE-9D3F1BD0C2DC}"/>
              </a:ext>
            </a:extLst>
          </p:cNvPr>
          <p:cNvSpPr/>
          <p:nvPr/>
        </p:nvSpPr>
        <p:spPr>
          <a:xfrm>
            <a:off x="14022055" y="2950939"/>
            <a:ext cx="253369" cy="918407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9729C46-2E54-4448-B708-9C7C7F3E137E}"/>
              </a:ext>
            </a:extLst>
          </p:cNvPr>
          <p:cNvSpPr/>
          <p:nvPr/>
        </p:nvSpPr>
        <p:spPr>
          <a:xfrm>
            <a:off x="14022050" y="4291711"/>
            <a:ext cx="253374" cy="84208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3D5E56A-6FEA-4248-919E-920470D46AE0}"/>
              </a:ext>
            </a:extLst>
          </p:cNvPr>
          <p:cNvSpPr/>
          <p:nvPr/>
        </p:nvSpPr>
        <p:spPr>
          <a:xfrm>
            <a:off x="14032342" y="5548269"/>
            <a:ext cx="243082" cy="957113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88C24-4B4C-45D9-A087-8A0518553E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685" y="3171444"/>
            <a:ext cx="2236627" cy="22366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4BF1CB-5D4E-446B-BD96-1D18501A2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29895" y="3192692"/>
            <a:ext cx="2178504" cy="2178504"/>
          </a:xfrm>
          <a:prstGeom prst="rect">
            <a:avLst/>
          </a:prstGeom>
        </p:spPr>
      </p:pic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D36990D5-C6FD-4CE4-81E6-04B01791F726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1CE3C383-08FC-43E1-9F0A-E30E378B3D91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DEDE9411-3851-4B02-8EE7-3AF6E5078BED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4522D0CC-CDC8-4955-AB08-CA950E8EFC8E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9C26DF0D-A176-4D1F-ACD3-19AA2FBDF60E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A076B5F9-69C9-45CC-AFCD-14B4EEDE66CB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743BEAF8-B9C7-42C8-A904-B8A8E64A3D32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lowchart: Connector 103">
            <a:extLst>
              <a:ext uri="{FF2B5EF4-FFF2-40B4-BE49-F238E27FC236}">
                <a16:creationId xmlns:a16="http://schemas.microsoft.com/office/drawing/2014/main" id="{675866D9-BA62-43A4-9DA1-D0B66A5ABCCF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67054D44-EE2D-423D-908C-08FBB6DACEF3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20B83FD4-9FF6-4FD6-AC55-8D6EED76C979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329BFAD3-AA00-4D02-AD9E-E36B7021E571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B683BBAC-8AA8-48BE-99A3-C36CD355D4FD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9E7E575D-AF38-47BA-B618-ED13F64A06F1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6BAF4FA7-279A-4041-9F57-A12FC2B39E39}"/>
              </a:ext>
            </a:extLst>
          </p:cNvPr>
          <p:cNvSpPr/>
          <p:nvPr/>
        </p:nvSpPr>
        <p:spPr>
          <a:xfrm>
            <a:off x="2510973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6856888-BC45-4F60-93B5-AD0295593F2D}"/>
              </a:ext>
            </a:extLst>
          </p:cNvPr>
          <p:cNvSpPr txBox="1"/>
          <p:nvPr/>
        </p:nvSpPr>
        <p:spPr>
          <a:xfrm>
            <a:off x="2447200" y="6404561"/>
            <a:ext cx="46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10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B914B-90CA-4D12-9DE6-5C16AD6F2E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" y="2964701"/>
            <a:ext cx="19050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51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111066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t="35773" r="9475" b="5300"/>
          <a:stretch/>
        </p:blipFill>
        <p:spPr>
          <a:xfrm>
            <a:off x="-1" y="-4932088"/>
            <a:ext cx="12192001" cy="413368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756032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963" y="1910342"/>
            <a:ext cx="7810595" cy="6073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4354FE-D4A6-4216-82FA-C6AFF27A052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5" r="162" b="3168"/>
          <a:stretch/>
        </p:blipFill>
        <p:spPr>
          <a:xfrm>
            <a:off x="-1" y="-56661"/>
            <a:ext cx="12221095" cy="691466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808E5FE-923F-47F6-819B-3362572BA720}"/>
              </a:ext>
            </a:extLst>
          </p:cNvPr>
          <p:cNvSpPr/>
          <p:nvPr/>
        </p:nvSpPr>
        <p:spPr>
          <a:xfrm>
            <a:off x="896369" y="7795063"/>
            <a:ext cx="10424038" cy="1669200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Two experiment-motion detection &amp; Gross motion detection.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Motion Detection is a combination of Gross motion and fine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Gross Motion </a:t>
            </a:r>
            <a:r>
              <a:rPr lang="en-US" b="1" dirty="0" err="1">
                <a:solidFill>
                  <a:schemeClr val="tx1"/>
                </a:solidFill>
              </a:rPr>
              <a:t>Dection</a:t>
            </a:r>
            <a:r>
              <a:rPr lang="en-US" b="1" dirty="0">
                <a:solidFill>
                  <a:schemeClr val="tx1"/>
                </a:solidFill>
              </a:rPr>
              <a:t> is only gross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2F3F8A-F262-4890-8DD3-751EBEACA9A7}"/>
              </a:ext>
            </a:extLst>
          </p:cNvPr>
          <p:cNvSpPr/>
          <p:nvPr/>
        </p:nvSpPr>
        <p:spPr>
          <a:xfrm>
            <a:off x="3124685" y="8128355"/>
            <a:ext cx="8616189" cy="113201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U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sing Python 3.8.3 with 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opencv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contrib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-python 4.5.5.62 (CPU-only)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on a CPU of 2.60GHz (Intel Core i7-9750H)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NimbusRomNo9L-Regu"/>
            </a:endParaRP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with no architecture specific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instruction.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082AA6-1E19-400A-B834-804E482336FF}"/>
              </a:ext>
            </a:extLst>
          </p:cNvPr>
          <p:cNvSpPr/>
          <p:nvPr/>
        </p:nvSpPr>
        <p:spPr>
          <a:xfrm>
            <a:off x="3601093" y="8210068"/>
            <a:ext cx="1060392" cy="1044263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497F45-9553-4894-8D48-86C08E27B6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81" y="8233078"/>
            <a:ext cx="959211" cy="10073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>
            <a:off x="550807" y="371850"/>
            <a:ext cx="6531772" cy="5291531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6200000">
            <a:off x="3589834" y="-2453727"/>
            <a:ext cx="477054" cy="6323591"/>
          </a:xfrm>
          <a:prstGeom prst="rect">
            <a:avLst/>
          </a:pr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2356419" y="469541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Results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5DDAAB-297B-4C20-8E8D-754F24863057}"/>
              </a:ext>
            </a:extLst>
          </p:cNvPr>
          <p:cNvSpPr/>
          <p:nvPr/>
        </p:nvSpPr>
        <p:spPr>
          <a:xfrm>
            <a:off x="7909888" y="340066"/>
            <a:ext cx="4024006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In the thermal dataset, BS outperforms the other methods with mean (SD) AUCs             of 0.86 (0.03) and 0.93 (0.03) for both experiments.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90ACF2-2C68-4A41-A22F-8D88DB0F931B}"/>
              </a:ext>
            </a:extLst>
          </p:cNvPr>
          <p:cNvSpPr/>
          <p:nvPr/>
        </p:nvSpPr>
        <p:spPr>
          <a:xfrm>
            <a:off x="7963877" y="1747255"/>
            <a:ext cx="3944993" cy="948395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SOF performs best for motion detection and is as good as DOF when detecting gross motion.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57A39D-31C8-40CA-9AF8-7A64ED87FF12}"/>
              </a:ext>
            </a:extLst>
          </p:cNvPr>
          <p:cNvSpPr/>
          <p:nvPr/>
        </p:nvSpPr>
        <p:spPr>
          <a:xfrm>
            <a:off x="7909888" y="2817927"/>
            <a:ext cx="4024006" cy="1187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performance of SOF and ORB increases with higher video resolution, but has little influence on the performance of DOF.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C32898-93FD-421A-9733-6D8677D2234A}"/>
              </a:ext>
            </a:extLst>
          </p:cNvPr>
          <p:cNvSpPr/>
          <p:nvPr/>
        </p:nvSpPr>
        <p:spPr>
          <a:xfrm>
            <a:off x="7996781" y="5465728"/>
            <a:ext cx="3950038" cy="1222932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The run time does not differ per method for the thermal data, which has a low resolution.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1FE813-70F9-4FA3-BAA4-B349737FCDF5}"/>
              </a:ext>
            </a:extLst>
          </p:cNvPr>
          <p:cNvSpPr/>
          <p:nvPr/>
        </p:nvSpPr>
        <p:spPr>
          <a:xfrm>
            <a:off x="7909888" y="4160972"/>
            <a:ext cx="4036931" cy="1177099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the run time is always higher, particularly the run time of DOF increases largely at high resolution.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DBA920-14B4-4937-95B5-4C287666BB7E}"/>
              </a:ext>
            </a:extLst>
          </p:cNvPr>
          <p:cNvSpPr/>
          <p:nvPr/>
        </p:nvSpPr>
        <p:spPr>
          <a:xfrm>
            <a:off x="7428940" y="1762989"/>
            <a:ext cx="534938" cy="936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A5D9C0-0C1F-40AB-A026-9BC260FC3AE3}"/>
              </a:ext>
            </a:extLst>
          </p:cNvPr>
          <p:cNvSpPr/>
          <p:nvPr/>
        </p:nvSpPr>
        <p:spPr>
          <a:xfrm>
            <a:off x="7417568" y="338403"/>
            <a:ext cx="534938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0310BF2-5FFF-44BB-A2AB-6C9674D2769A}"/>
              </a:ext>
            </a:extLst>
          </p:cNvPr>
          <p:cNvSpPr/>
          <p:nvPr/>
        </p:nvSpPr>
        <p:spPr>
          <a:xfrm>
            <a:off x="7431212" y="2811993"/>
            <a:ext cx="534938" cy="1171164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985F491-AFEA-4E7E-8FF3-71D1E0D84D99}"/>
              </a:ext>
            </a:extLst>
          </p:cNvPr>
          <p:cNvSpPr/>
          <p:nvPr/>
        </p:nvSpPr>
        <p:spPr>
          <a:xfrm>
            <a:off x="7447133" y="4166908"/>
            <a:ext cx="462756" cy="117116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492F0D-06B4-437C-8513-BE013331A1B4}"/>
              </a:ext>
            </a:extLst>
          </p:cNvPr>
          <p:cNvSpPr/>
          <p:nvPr/>
        </p:nvSpPr>
        <p:spPr>
          <a:xfrm>
            <a:off x="7465474" y="5458337"/>
            <a:ext cx="527316" cy="123032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A129C-E1EE-4560-A61A-569242FCD6B5}"/>
              </a:ext>
            </a:extLst>
          </p:cNvPr>
          <p:cNvSpPr/>
          <p:nvPr/>
        </p:nvSpPr>
        <p:spPr>
          <a:xfrm>
            <a:off x="7604232" y="479952"/>
            <a:ext cx="255641" cy="1022712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455B26-DD14-4C66-B16E-38C7F9E29813}"/>
              </a:ext>
            </a:extLst>
          </p:cNvPr>
          <p:cNvSpPr/>
          <p:nvPr/>
        </p:nvSpPr>
        <p:spPr>
          <a:xfrm>
            <a:off x="7606506" y="1881791"/>
            <a:ext cx="253367" cy="734489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37BD856-A1A4-4A0A-9491-B3C66A788801}"/>
              </a:ext>
            </a:extLst>
          </p:cNvPr>
          <p:cNvSpPr/>
          <p:nvPr/>
        </p:nvSpPr>
        <p:spPr>
          <a:xfrm>
            <a:off x="7606504" y="2950939"/>
            <a:ext cx="253369" cy="918407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DC2B13D-F00C-4AB6-98FE-C4410EE171D6}"/>
              </a:ext>
            </a:extLst>
          </p:cNvPr>
          <p:cNvSpPr/>
          <p:nvPr/>
        </p:nvSpPr>
        <p:spPr>
          <a:xfrm>
            <a:off x="7606499" y="4291711"/>
            <a:ext cx="253374" cy="84208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61A90-09F3-4634-ADEF-916FD8F89EED}"/>
              </a:ext>
            </a:extLst>
          </p:cNvPr>
          <p:cNvSpPr/>
          <p:nvPr/>
        </p:nvSpPr>
        <p:spPr>
          <a:xfrm>
            <a:off x="7616791" y="5548269"/>
            <a:ext cx="243082" cy="957113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Table 2">
            <a:extLst>
              <a:ext uri="{FF2B5EF4-FFF2-40B4-BE49-F238E27FC236}">
                <a16:creationId xmlns:a16="http://schemas.microsoft.com/office/drawing/2014/main" id="{A206FE90-7E7A-4B39-8F1D-07EAF87C0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71484"/>
              </p:ext>
            </p:extLst>
          </p:nvPr>
        </p:nvGraphicFramePr>
        <p:xfrm>
          <a:off x="666565" y="1395145"/>
          <a:ext cx="6316180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045">
                  <a:extLst>
                    <a:ext uri="{9D8B030D-6E8A-4147-A177-3AD203B41FA5}">
                      <a16:colId xmlns:a16="http://schemas.microsoft.com/office/drawing/2014/main" val="2531181003"/>
                    </a:ext>
                  </a:extLst>
                </a:gridCol>
                <a:gridCol w="1579045">
                  <a:extLst>
                    <a:ext uri="{9D8B030D-6E8A-4147-A177-3AD203B41FA5}">
                      <a16:colId xmlns:a16="http://schemas.microsoft.com/office/drawing/2014/main" val="1285942585"/>
                    </a:ext>
                  </a:extLst>
                </a:gridCol>
                <a:gridCol w="1579045">
                  <a:extLst>
                    <a:ext uri="{9D8B030D-6E8A-4147-A177-3AD203B41FA5}">
                      <a16:colId xmlns:a16="http://schemas.microsoft.com/office/drawing/2014/main" val="2272445993"/>
                    </a:ext>
                  </a:extLst>
                </a:gridCol>
                <a:gridCol w="1579045">
                  <a:extLst>
                    <a:ext uri="{9D8B030D-6E8A-4147-A177-3AD203B41FA5}">
                      <a16:colId xmlns:a16="http://schemas.microsoft.com/office/drawing/2014/main" val="2946558495"/>
                    </a:ext>
                  </a:extLst>
                </a:gridCol>
              </a:tblGrid>
              <a:tr h="40127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Gross 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Run Time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ms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781380"/>
                  </a:ext>
                </a:extLst>
              </a:tr>
              <a:tr h="2111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0.76 (0.13)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0.89 (0.04)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30.0 (1.80)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987573"/>
                  </a:ext>
                </a:extLst>
              </a:tr>
              <a:tr h="2111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0.82 (0.09)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0.91 (0.05)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28.9 (2.65)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85109"/>
                  </a:ext>
                </a:extLst>
              </a:tr>
              <a:tr h="2111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0.79 ( 0.11)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0.91 (0.05)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234 ( 3.40)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59726"/>
                  </a:ext>
                </a:extLst>
              </a:tr>
              <a:tr h="2111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0.77 (0.11)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0.84 (0.06)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36.2 (1.10)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74023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9923A7F0-A0BE-43CC-BC2A-EDDE18D3F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76690"/>
              </p:ext>
            </p:extLst>
          </p:nvPr>
        </p:nvGraphicFramePr>
        <p:xfrm>
          <a:off x="677795" y="3610743"/>
          <a:ext cx="6312856" cy="186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214">
                  <a:extLst>
                    <a:ext uri="{9D8B030D-6E8A-4147-A177-3AD203B41FA5}">
                      <a16:colId xmlns:a16="http://schemas.microsoft.com/office/drawing/2014/main" val="2531181003"/>
                    </a:ext>
                  </a:extLst>
                </a:gridCol>
                <a:gridCol w="1578214">
                  <a:extLst>
                    <a:ext uri="{9D8B030D-6E8A-4147-A177-3AD203B41FA5}">
                      <a16:colId xmlns:a16="http://schemas.microsoft.com/office/drawing/2014/main" val="1285942585"/>
                    </a:ext>
                  </a:extLst>
                </a:gridCol>
                <a:gridCol w="1578214">
                  <a:extLst>
                    <a:ext uri="{9D8B030D-6E8A-4147-A177-3AD203B41FA5}">
                      <a16:colId xmlns:a16="http://schemas.microsoft.com/office/drawing/2014/main" val="2272445993"/>
                    </a:ext>
                  </a:extLst>
                </a:gridCol>
                <a:gridCol w="1578214">
                  <a:extLst>
                    <a:ext uri="{9D8B030D-6E8A-4147-A177-3AD203B41FA5}">
                      <a16:colId xmlns:a16="http://schemas.microsoft.com/office/drawing/2014/main" val="2946558495"/>
                    </a:ext>
                  </a:extLst>
                </a:gridCol>
              </a:tblGrid>
              <a:tr h="529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Gross 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Run Time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ms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781380"/>
                  </a:ext>
                </a:extLst>
              </a:tr>
              <a:tr h="322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0.86 (0.03)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0.93 (0.03)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16.0 (0.05)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987573"/>
                  </a:ext>
                </a:extLst>
              </a:tr>
              <a:tr h="322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0.74 (0.06)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0.87 (0.07)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15.9 ( 0.05)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85109"/>
                  </a:ext>
                </a:extLst>
              </a:tr>
              <a:tr h="322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0.78 ( 0.09)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0.91 ( 0.05)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15.8 ( 0.64)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259726"/>
                  </a:ext>
                </a:extLst>
              </a:tr>
              <a:tr h="322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0.70 ( 0.11)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0.81 ( 0.10)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15.6 (0.02)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7402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2FB914B-90CA-4D12-9DE6-5C16AD6F2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" y="4586149"/>
            <a:ext cx="1905000" cy="240030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D46DD7EE-4C8D-42C8-B0D8-86E250B29A1A}"/>
              </a:ext>
            </a:extLst>
          </p:cNvPr>
          <p:cNvSpPr/>
          <p:nvPr/>
        </p:nvSpPr>
        <p:spPr>
          <a:xfrm>
            <a:off x="674853" y="1017497"/>
            <a:ext cx="6315304" cy="3576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 G B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25CF08-9493-4688-93A5-D23E7B615C00}"/>
              </a:ext>
            </a:extLst>
          </p:cNvPr>
          <p:cNvSpPr/>
          <p:nvPr/>
        </p:nvSpPr>
        <p:spPr>
          <a:xfrm>
            <a:off x="679773" y="3234666"/>
            <a:ext cx="6315304" cy="3576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Thermal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88C24-4B4C-45D9-A087-8A0518553E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685" y="4792892"/>
            <a:ext cx="2236627" cy="22366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4BF1CB-5D4E-446B-BD96-1D18501A2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29895" y="4814140"/>
            <a:ext cx="2178504" cy="2178504"/>
          </a:xfrm>
          <a:prstGeom prst="rect">
            <a:avLst/>
          </a:prstGeom>
        </p:spPr>
      </p:pic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8989025A-4E8B-4CCC-97EC-1E45F5976896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A72FCC5A-63FE-4EA7-8DF9-B1801F961AB0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lowchart: Connector 79">
            <a:extLst>
              <a:ext uri="{FF2B5EF4-FFF2-40B4-BE49-F238E27FC236}">
                <a16:creationId xmlns:a16="http://schemas.microsoft.com/office/drawing/2014/main" id="{2D741390-27EE-4E6F-87E2-E24B50E30A04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20D34ED9-55FE-40DF-A5CB-D91483E8C27D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lowchart: Connector 81">
            <a:extLst>
              <a:ext uri="{FF2B5EF4-FFF2-40B4-BE49-F238E27FC236}">
                <a16:creationId xmlns:a16="http://schemas.microsoft.com/office/drawing/2014/main" id="{43DB4219-6D4A-485E-9936-6A6516EB07AD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407F1315-44F4-4D48-9C48-BEF94D1E9DAD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F87A5820-B8EC-4E81-B0AA-F4067C236EF5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F29C5F10-AF40-4743-941F-EE22B3FCFEDE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81F9D235-7703-42A8-A592-3F8216E70D29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6C8E1109-C81F-4BEE-B658-38EDF1E32E63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CD004A70-5370-432E-9846-08A351343335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A07EF1CF-F9DA-40C3-B2E4-BC6AFC05D3CE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9A000AD3-17B7-433C-A29C-1F3D436F2A28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85C43CAC-5CEB-45BA-B7C9-996F2B7C2890}"/>
              </a:ext>
            </a:extLst>
          </p:cNvPr>
          <p:cNvSpPr/>
          <p:nvPr/>
        </p:nvSpPr>
        <p:spPr>
          <a:xfrm>
            <a:off x="2761689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CA4EA5A-9C6F-453D-9008-B77BB8DB22FE}"/>
              </a:ext>
            </a:extLst>
          </p:cNvPr>
          <p:cNvSpPr txBox="1"/>
          <p:nvPr/>
        </p:nvSpPr>
        <p:spPr>
          <a:xfrm>
            <a:off x="2697295" y="6406594"/>
            <a:ext cx="522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11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480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111066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t="35773" r="9475" b="5300"/>
          <a:stretch/>
        </p:blipFill>
        <p:spPr>
          <a:xfrm>
            <a:off x="-1" y="-4932088"/>
            <a:ext cx="12192001" cy="413368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756032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963" y="1910342"/>
            <a:ext cx="7810595" cy="6073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4354FE-D4A6-4216-82FA-C6AFF27A052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5" r="162" b="3168"/>
          <a:stretch/>
        </p:blipFill>
        <p:spPr>
          <a:xfrm>
            <a:off x="-41788" y="-74622"/>
            <a:ext cx="12221095" cy="691466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808E5FE-923F-47F6-819B-3362572BA720}"/>
              </a:ext>
            </a:extLst>
          </p:cNvPr>
          <p:cNvSpPr/>
          <p:nvPr/>
        </p:nvSpPr>
        <p:spPr>
          <a:xfrm>
            <a:off x="896369" y="7795063"/>
            <a:ext cx="10424038" cy="1669200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Two experiment-motion detection &amp; Gross motion detection.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Motion Detection is a combination of Gross motion and fine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Gross Motion </a:t>
            </a:r>
            <a:r>
              <a:rPr lang="en-US" b="1" dirty="0" err="1">
                <a:solidFill>
                  <a:schemeClr val="tx1"/>
                </a:solidFill>
              </a:rPr>
              <a:t>Dection</a:t>
            </a:r>
            <a:r>
              <a:rPr lang="en-US" b="1" dirty="0">
                <a:solidFill>
                  <a:schemeClr val="tx1"/>
                </a:solidFill>
              </a:rPr>
              <a:t> is only gross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2F3F8A-F262-4890-8DD3-751EBEACA9A7}"/>
              </a:ext>
            </a:extLst>
          </p:cNvPr>
          <p:cNvSpPr/>
          <p:nvPr/>
        </p:nvSpPr>
        <p:spPr>
          <a:xfrm>
            <a:off x="3124685" y="8128355"/>
            <a:ext cx="8616189" cy="113201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U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sing Python 3.8.3 with 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opencv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contrib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-python 4.5.5.62 (CPU-only)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on a CPU of 2.60GHz (Intel Core i7-9750H)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NimbusRomNo9L-Regu"/>
            </a:endParaRP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with no architecture specific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instruction.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082AA6-1E19-400A-B834-804E482336FF}"/>
              </a:ext>
            </a:extLst>
          </p:cNvPr>
          <p:cNvSpPr/>
          <p:nvPr/>
        </p:nvSpPr>
        <p:spPr>
          <a:xfrm>
            <a:off x="3601093" y="8210068"/>
            <a:ext cx="1060392" cy="1044263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497F45-9553-4894-8D48-86C08E27B6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81" y="8233078"/>
            <a:ext cx="959211" cy="10073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0E0184-C2AA-4D35-A3E4-079F98D1B464}"/>
              </a:ext>
            </a:extLst>
          </p:cNvPr>
          <p:cNvSpPr/>
          <p:nvPr/>
        </p:nvSpPr>
        <p:spPr>
          <a:xfrm rot="2426379">
            <a:off x="831278" y="623459"/>
            <a:ext cx="1828800" cy="1828800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8769B6-2398-46DC-A927-665A4D9D180B}"/>
              </a:ext>
            </a:extLst>
          </p:cNvPr>
          <p:cNvSpPr/>
          <p:nvPr/>
        </p:nvSpPr>
        <p:spPr>
          <a:xfrm rot="10800000">
            <a:off x="986086" y="783716"/>
            <a:ext cx="1545336" cy="1540550"/>
          </a:xfrm>
          <a:prstGeom prst="rect">
            <a:avLst/>
          </a:prstGeom>
          <a:solidFill>
            <a:schemeClr val="bg1">
              <a:lumMod val="50000"/>
              <a:alpha val="4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CFAFA8-5FC1-4508-A91D-8B3666905514}"/>
              </a:ext>
            </a:extLst>
          </p:cNvPr>
          <p:cNvSpPr txBox="1"/>
          <p:nvPr/>
        </p:nvSpPr>
        <p:spPr>
          <a:xfrm>
            <a:off x="455624" y="1300131"/>
            <a:ext cx="25825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-BoldMT"/>
              </a:rPr>
              <a:t>Discussion</a:t>
            </a:r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B914B-90CA-4D12-9DE6-5C16AD6F2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" y="4480234"/>
            <a:ext cx="1905000" cy="24003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4736415-946A-4235-9F1A-4DEC3AA674AD}"/>
              </a:ext>
            </a:extLst>
          </p:cNvPr>
          <p:cNvSpPr/>
          <p:nvPr/>
        </p:nvSpPr>
        <p:spPr>
          <a:xfrm>
            <a:off x="3747328" y="454252"/>
            <a:ext cx="8128996" cy="530331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A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ll the methods can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capture gross motion well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based on differences between two consecutive frames</a:t>
            </a:r>
            <a:r>
              <a:rPr lang="en-US" sz="1800" b="1" i="0" u="none" strike="noStrike" baseline="0" dirty="0">
                <a:solidFill>
                  <a:schemeClr val="tx1"/>
                </a:solidFill>
                <a:latin typeface="NimbusRomNo9L-Regu"/>
              </a:rPr>
              <a:t>.</a:t>
            </a:r>
          </a:p>
          <a:p>
            <a:pPr algn="l"/>
            <a:endParaRPr lang="en-US" b="1" dirty="0">
              <a:solidFill>
                <a:schemeClr val="accent1">
                  <a:lumMod val="75000"/>
                </a:schemeClr>
              </a:solidFill>
              <a:latin typeface="NimbusRomNo9L-Regu"/>
            </a:endParaRPr>
          </a:p>
          <a:p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Why these methods are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low performance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in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fine motion detection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?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  <a:latin typeface="NimbusRomNo9L-Regu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 method perform best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thermal videos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but the performance decreases in RGB videos. 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BS &amp; DOF cannot benefit from the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increased resolution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but SOF and ORB can benefit.</a:t>
            </a: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The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run time of the DOF method increases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much more than other methods when running in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high-resolution RGB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videos.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These results can differ according to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limitations of patient population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and available views between the two datasets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, and can make further research.</a:t>
            </a:r>
          </a:p>
          <a:p>
            <a:pPr algn="l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8B900F-E8F8-4404-87D1-0B2B2426E8D6}"/>
              </a:ext>
            </a:extLst>
          </p:cNvPr>
          <p:cNvSpPr/>
          <p:nvPr/>
        </p:nvSpPr>
        <p:spPr>
          <a:xfrm>
            <a:off x="3193171" y="454245"/>
            <a:ext cx="557564" cy="5309254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0A57A68D-8EFF-46C0-B4A2-06FD38FA6CC1}"/>
              </a:ext>
            </a:extLst>
          </p:cNvPr>
          <p:cNvSpPr/>
          <p:nvPr/>
        </p:nvSpPr>
        <p:spPr>
          <a:xfrm>
            <a:off x="3489370" y="789226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BF0C5E89-0C59-451A-96DA-D3B1AE65F3EA}"/>
              </a:ext>
            </a:extLst>
          </p:cNvPr>
          <p:cNvSpPr/>
          <p:nvPr/>
        </p:nvSpPr>
        <p:spPr>
          <a:xfrm>
            <a:off x="3489371" y="1634352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A4011767-DC02-428C-A818-7D84A954DC15}"/>
              </a:ext>
            </a:extLst>
          </p:cNvPr>
          <p:cNvSpPr/>
          <p:nvPr/>
        </p:nvSpPr>
        <p:spPr>
          <a:xfrm>
            <a:off x="3503221" y="2174679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Arrow: Chevron 67">
            <a:extLst>
              <a:ext uri="{FF2B5EF4-FFF2-40B4-BE49-F238E27FC236}">
                <a16:creationId xmlns:a16="http://schemas.microsoft.com/office/drawing/2014/main" id="{97BBE883-BB94-40A0-A3E2-A92DE888B773}"/>
              </a:ext>
            </a:extLst>
          </p:cNvPr>
          <p:cNvSpPr/>
          <p:nvPr/>
        </p:nvSpPr>
        <p:spPr>
          <a:xfrm>
            <a:off x="3489361" y="3005960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Arrow: Chevron 68">
            <a:extLst>
              <a:ext uri="{FF2B5EF4-FFF2-40B4-BE49-F238E27FC236}">
                <a16:creationId xmlns:a16="http://schemas.microsoft.com/office/drawing/2014/main" id="{51DF2A55-CEED-4339-AAA9-558D75676493}"/>
              </a:ext>
            </a:extLst>
          </p:cNvPr>
          <p:cNvSpPr/>
          <p:nvPr/>
        </p:nvSpPr>
        <p:spPr>
          <a:xfrm>
            <a:off x="3475504" y="3837238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Arrow: Chevron 69">
            <a:extLst>
              <a:ext uri="{FF2B5EF4-FFF2-40B4-BE49-F238E27FC236}">
                <a16:creationId xmlns:a16="http://schemas.microsoft.com/office/drawing/2014/main" id="{B1ECBA98-B021-4FC9-8798-D975EB495A16}"/>
              </a:ext>
            </a:extLst>
          </p:cNvPr>
          <p:cNvSpPr/>
          <p:nvPr/>
        </p:nvSpPr>
        <p:spPr>
          <a:xfrm>
            <a:off x="3489357" y="4640784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4762BC5F-18DF-4E73-A4AA-2A9002F803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30" y="7619286"/>
            <a:ext cx="3429000" cy="295275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2C5B4CFA-758C-4608-9B7C-622848C8A0CF}"/>
              </a:ext>
            </a:extLst>
          </p:cNvPr>
          <p:cNvSpPr/>
          <p:nvPr/>
        </p:nvSpPr>
        <p:spPr>
          <a:xfrm>
            <a:off x="-81682" y="6887178"/>
            <a:ext cx="12427515" cy="3607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114237-A543-4EB0-97DA-C8D139AB446D}"/>
              </a:ext>
            </a:extLst>
          </p:cNvPr>
          <p:cNvSpPr/>
          <p:nvPr/>
        </p:nvSpPr>
        <p:spPr>
          <a:xfrm>
            <a:off x="13057075" y="340066"/>
            <a:ext cx="4024006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In the thermal dataset, BS outperforms the other methods with mean (SD) AUCs             of 0.86 (0.03) and 0.93 (0.03) for both experiments.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1EBFA98-27CD-4C90-A286-7E4E9EEBE0A3}"/>
              </a:ext>
            </a:extLst>
          </p:cNvPr>
          <p:cNvSpPr/>
          <p:nvPr/>
        </p:nvSpPr>
        <p:spPr>
          <a:xfrm>
            <a:off x="13111064" y="1747255"/>
            <a:ext cx="3944993" cy="948395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SOF performs best for motion detection and is as good as DOF when detecting gross motion.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D395F10-0DA6-4B06-B2AC-38171FC5F75C}"/>
              </a:ext>
            </a:extLst>
          </p:cNvPr>
          <p:cNvSpPr/>
          <p:nvPr/>
        </p:nvSpPr>
        <p:spPr>
          <a:xfrm>
            <a:off x="13057075" y="2817927"/>
            <a:ext cx="4024006" cy="1187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performance of SOF and ORB increases with higher video resolution, but has little influence on the performance of DOF.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DB4F8CA-0395-4D9F-AD08-CEEC9E6B800C}"/>
              </a:ext>
            </a:extLst>
          </p:cNvPr>
          <p:cNvSpPr/>
          <p:nvPr/>
        </p:nvSpPr>
        <p:spPr>
          <a:xfrm>
            <a:off x="13143968" y="5465728"/>
            <a:ext cx="3950038" cy="1222932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The run time does not differ per method for the thermal data, which has a low resolution.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8BAE68C-65A6-4E8C-9F13-8EE171F258BF}"/>
              </a:ext>
            </a:extLst>
          </p:cNvPr>
          <p:cNvSpPr/>
          <p:nvPr/>
        </p:nvSpPr>
        <p:spPr>
          <a:xfrm>
            <a:off x="13057075" y="4160972"/>
            <a:ext cx="4036931" cy="1177099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the run time is always higher, particularly the run time of DOF increases largely at high resolution.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66B7CA2-7398-4F97-8CD8-60251B075AAF}"/>
              </a:ext>
            </a:extLst>
          </p:cNvPr>
          <p:cNvSpPr/>
          <p:nvPr/>
        </p:nvSpPr>
        <p:spPr>
          <a:xfrm>
            <a:off x="12576127" y="1762989"/>
            <a:ext cx="534938" cy="93687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402DAB5-7EEE-455F-84DA-248DB9A1725F}"/>
              </a:ext>
            </a:extLst>
          </p:cNvPr>
          <p:cNvSpPr/>
          <p:nvPr/>
        </p:nvSpPr>
        <p:spPr>
          <a:xfrm>
            <a:off x="12564755" y="338403"/>
            <a:ext cx="534938" cy="127949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CE28451-80F8-43BA-B414-338785EAC15B}"/>
              </a:ext>
            </a:extLst>
          </p:cNvPr>
          <p:cNvSpPr/>
          <p:nvPr/>
        </p:nvSpPr>
        <p:spPr>
          <a:xfrm>
            <a:off x="12578399" y="2811993"/>
            <a:ext cx="534938" cy="1171164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1D68E21-18BF-47B5-BF30-5FF55A53F949}"/>
              </a:ext>
            </a:extLst>
          </p:cNvPr>
          <p:cNvSpPr/>
          <p:nvPr/>
        </p:nvSpPr>
        <p:spPr>
          <a:xfrm>
            <a:off x="12594320" y="4166908"/>
            <a:ext cx="462756" cy="117116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92E72E-91D7-4BF3-A88E-E5E249117397}"/>
              </a:ext>
            </a:extLst>
          </p:cNvPr>
          <p:cNvSpPr/>
          <p:nvPr/>
        </p:nvSpPr>
        <p:spPr>
          <a:xfrm>
            <a:off x="12612661" y="5458337"/>
            <a:ext cx="527316" cy="123032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9F5AC4-5FD4-473E-B422-17809A1E377F}"/>
              </a:ext>
            </a:extLst>
          </p:cNvPr>
          <p:cNvSpPr/>
          <p:nvPr/>
        </p:nvSpPr>
        <p:spPr>
          <a:xfrm>
            <a:off x="12751419" y="479952"/>
            <a:ext cx="255641" cy="1022712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9C41D30-BD58-4778-81F0-0898EC6F35E6}"/>
              </a:ext>
            </a:extLst>
          </p:cNvPr>
          <p:cNvSpPr/>
          <p:nvPr/>
        </p:nvSpPr>
        <p:spPr>
          <a:xfrm>
            <a:off x="12753693" y="1881791"/>
            <a:ext cx="253367" cy="734489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994E05B-B848-45C8-8891-D17AA98B51AC}"/>
              </a:ext>
            </a:extLst>
          </p:cNvPr>
          <p:cNvSpPr/>
          <p:nvPr/>
        </p:nvSpPr>
        <p:spPr>
          <a:xfrm>
            <a:off x="12753691" y="2950939"/>
            <a:ext cx="253369" cy="918407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3D3D210-D3DC-449F-8571-31A1D75DED96}"/>
              </a:ext>
            </a:extLst>
          </p:cNvPr>
          <p:cNvSpPr/>
          <p:nvPr/>
        </p:nvSpPr>
        <p:spPr>
          <a:xfrm>
            <a:off x="12753686" y="4291711"/>
            <a:ext cx="253374" cy="84208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ADBF84-0131-4006-AC06-26EFA847F36E}"/>
              </a:ext>
            </a:extLst>
          </p:cNvPr>
          <p:cNvSpPr/>
          <p:nvPr/>
        </p:nvSpPr>
        <p:spPr>
          <a:xfrm>
            <a:off x="12763978" y="5548269"/>
            <a:ext cx="243082" cy="957113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2B511984-DF14-4E64-8AD2-270503C67878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2A6A3480-4380-45F0-A37E-2565CF48EAC5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C470ED61-1675-426E-A0DF-F0224B9FA551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8607ABC4-6442-47E7-9FD1-82CF9523D4C2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5C31E1A9-F9BD-4E8E-A03E-440206FFC149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AC4D3CBD-973D-48F0-AFBC-DA36F988BB9C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192278FE-DEE5-4CE0-B7F1-30F2A2DE358F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F52002DD-A762-4F26-AEDD-4623ECE1ABDF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4D65B5A4-79C0-439B-9BAB-8059A807C78F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BE990873-1CAF-49E4-947A-BBAF69FC914F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C7653560-BF90-4CCE-A402-6BC5935E6B75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9B5DE711-68AA-43CF-891A-7776F271BC7F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4EEFA455-504A-48EB-B593-072CCAE7E45E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6A2833FF-CFF9-4D43-AE5B-FB83582824B8}"/>
              </a:ext>
            </a:extLst>
          </p:cNvPr>
          <p:cNvSpPr/>
          <p:nvPr/>
        </p:nvSpPr>
        <p:spPr>
          <a:xfrm>
            <a:off x="2997657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B49BED-D67F-4638-B825-C52C8F2AE414}"/>
              </a:ext>
            </a:extLst>
          </p:cNvPr>
          <p:cNvSpPr txBox="1"/>
          <p:nvPr/>
        </p:nvSpPr>
        <p:spPr>
          <a:xfrm>
            <a:off x="2933904" y="6404561"/>
            <a:ext cx="468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12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88C24-4B4C-45D9-A087-8A0518553E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672" y="5075017"/>
            <a:ext cx="2236627" cy="22366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4BF1CB-5D4E-446B-BD96-1D18501A2E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65531" y="4846772"/>
            <a:ext cx="2178504" cy="217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44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649D765-BC14-46AC-99C2-78A1C6DAE967}"/>
              </a:ext>
            </a:extLst>
          </p:cNvPr>
          <p:cNvSpPr/>
          <p:nvPr/>
        </p:nvSpPr>
        <p:spPr>
          <a:xfrm>
            <a:off x="-81682" y="6596233"/>
            <a:ext cx="12427515" cy="3607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178D7-6491-4B3D-923E-56278D95E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72"/>
          <a:stretch/>
        </p:blipFill>
        <p:spPr>
          <a:xfrm>
            <a:off x="-1" y="8111066"/>
            <a:ext cx="12192001" cy="897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85C156-267F-46B7-B5BE-22197D2B2D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" t="35773" r="9475" b="5300"/>
          <a:stretch/>
        </p:blipFill>
        <p:spPr>
          <a:xfrm>
            <a:off x="-1" y="-4932088"/>
            <a:ext cx="12192001" cy="4133682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225D3E-2005-4136-83CA-556473BD0D24}"/>
              </a:ext>
            </a:extLst>
          </p:cNvPr>
          <p:cNvSpPr/>
          <p:nvPr/>
        </p:nvSpPr>
        <p:spPr>
          <a:xfrm>
            <a:off x="608724" y="-2630354"/>
            <a:ext cx="10874838" cy="676041"/>
          </a:xfrm>
          <a:prstGeom prst="rect">
            <a:avLst/>
          </a:prstGeom>
          <a:solidFill>
            <a:schemeClr val="lt1">
              <a:alpha val="69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B5CF0-057E-4328-9ABB-0C3C1850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106385" y="663072"/>
            <a:ext cx="9144000" cy="1754314"/>
          </a:xfrm>
        </p:spPr>
        <p:txBody>
          <a:bodyPr>
            <a:normAutofit/>
          </a:bodyPr>
          <a:lstStyle/>
          <a:p>
            <a:r>
              <a:rPr lang="en-US" sz="4400" b="0" i="0" u="none" strike="noStrike" baseline="0" dirty="0">
                <a:solidFill>
                  <a:schemeClr val="accent5">
                    <a:lumMod val="50000"/>
                  </a:schemeClr>
                </a:solidFill>
                <a:latin typeface="Swis721 BlkEx BT" panose="020B0907040502030204" pitchFamily="34" charset="0"/>
              </a:rPr>
              <a:t>A Comparison of Video-based Methods</a:t>
            </a:r>
            <a:endParaRPr lang="en-US" sz="4400" dirty="0">
              <a:solidFill>
                <a:schemeClr val="accent5">
                  <a:lumMod val="50000"/>
                </a:schemeClr>
              </a:solidFill>
              <a:latin typeface="Swis721 BlkEx BT" panose="020B090704050203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12E2698-4861-4B69-8C90-05AB7F9E43A0}"/>
              </a:ext>
            </a:extLst>
          </p:cNvPr>
          <p:cNvSpPr txBox="1">
            <a:spLocks/>
          </p:cNvSpPr>
          <p:nvPr/>
        </p:nvSpPr>
        <p:spPr>
          <a:xfrm>
            <a:off x="-13890209" y="2556199"/>
            <a:ext cx="10276220" cy="872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Neonatal Body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cs typeface="Times New Roman" panose="02020603050405020304" pitchFamily="18" charset="0"/>
              </a:rPr>
              <a:t>Motion Detection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566959-5A36-4D44-91C0-D64BA52E57E3}"/>
              </a:ext>
            </a:extLst>
          </p:cNvPr>
          <p:cNvCxnSpPr/>
          <p:nvPr/>
        </p:nvCxnSpPr>
        <p:spPr>
          <a:xfrm>
            <a:off x="13171694" y="2678644"/>
            <a:ext cx="7097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BA9D0E8-EE2C-43A9-8219-B21F14167B82}"/>
              </a:ext>
            </a:extLst>
          </p:cNvPr>
          <p:cNvSpPr txBox="1"/>
          <p:nvPr/>
        </p:nvSpPr>
        <p:spPr>
          <a:xfrm>
            <a:off x="12768064" y="4475726"/>
            <a:ext cx="68697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2022 44th Annual International Conference of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 IEEE Engineering in Medicine &amp; Biology Society (EMBC)</a:t>
            </a: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Scottish Event Campus, Glasgow, UK, July 11-15, 2022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7B36F1-6AAB-479D-BADA-BFBB9AEAB3DC}"/>
              </a:ext>
            </a:extLst>
          </p:cNvPr>
          <p:cNvSpPr txBox="1"/>
          <p:nvPr/>
        </p:nvSpPr>
        <p:spPr>
          <a:xfrm>
            <a:off x="891768" y="-130187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GROUP - 3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FEDF9-D0E7-4F42-8351-76834BB0F890}"/>
              </a:ext>
            </a:extLst>
          </p:cNvPr>
          <p:cNvSpPr txBox="1"/>
          <p:nvPr/>
        </p:nvSpPr>
        <p:spPr>
          <a:xfrm>
            <a:off x="2655348" y="-1637155"/>
            <a:ext cx="24174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 Members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427C52-2122-431B-9D68-DDF00D1AAF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5" t="14016" r="1505" b="5970"/>
          <a:stretch/>
        </p:blipFill>
        <p:spPr>
          <a:xfrm>
            <a:off x="-10838687" y="20731"/>
            <a:ext cx="9213098" cy="54874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96CCFC7-15BB-41D1-A20E-958A232D04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" b="22509"/>
          <a:stretch/>
        </p:blipFill>
        <p:spPr>
          <a:xfrm>
            <a:off x="13825908" y="0"/>
            <a:ext cx="6155413" cy="279724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A704B7C-2728-406B-BF34-2D705B98BE17}"/>
              </a:ext>
            </a:extLst>
          </p:cNvPr>
          <p:cNvSpPr txBox="1"/>
          <p:nvPr/>
        </p:nvSpPr>
        <p:spPr>
          <a:xfrm>
            <a:off x="6466110" y="-813094"/>
            <a:ext cx="520423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500" b="1" i="0" u="none" strike="noStrike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-BoldMT"/>
              </a:rPr>
              <a:t>Outlines of Presentation</a:t>
            </a:r>
            <a:endParaRPr lang="en-US" sz="2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27CDB2-2EAE-4587-8D73-731908834552}"/>
              </a:ext>
            </a:extLst>
          </p:cNvPr>
          <p:cNvSpPr/>
          <p:nvPr/>
        </p:nvSpPr>
        <p:spPr>
          <a:xfrm>
            <a:off x="-5372082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preterm birth?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771164-5A94-4D09-9A83-40B81AB948BE}"/>
              </a:ext>
            </a:extLst>
          </p:cNvPr>
          <p:cNvSpPr/>
          <p:nvPr/>
        </p:nvSpPr>
        <p:spPr>
          <a:xfrm>
            <a:off x="-5370216" y="4263338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Effects of preterm birth?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FC08B6-9E35-483F-85BF-FC836E6EF755}"/>
              </a:ext>
            </a:extLst>
          </p:cNvPr>
          <p:cNvSpPr/>
          <p:nvPr/>
        </p:nvSpPr>
        <p:spPr>
          <a:xfrm>
            <a:off x="12835170" y="979905"/>
            <a:ext cx="4542906" cy="717153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Create monitoring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5EBCC-F7A9-4E87-8A81-BB99B16CD24D}"/>
              </a:ext>
            </a:extLst>
          </p:cNvPr>
          <p:cNvSpPr txBox="1"/>
          <p:nvPr/>
        </p:nvSpPr>
        <p:spPr>
          <a:xfrm>
            <a:off x="608724" y="-3842565"/>
            <a:ext cx="4966288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Thwin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Htoo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Aung		5IST-1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Ye Win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Htet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5IST-11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Chan Min Ko		5IST-12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Mg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Mabu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Phong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		5IST-13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Ma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Khine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Thet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-BoldMT"/>
              </a:rPr>
              <a:t> Zaw	5IST-16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ADD2CD-1A02-47F6-AD95-05629D29C306}"/>
              </a:ext>
            </a:extLst>
          </p:cNvPr>
          <p:cNvSpPr txBox="1"/>
          <p:nvPr/>
        </p:nvSpPr>
        <p:spPr>
          <a:xfrm>
            <a:off x="6744855" y="-3940539"/>
            <a:ext cx="4966288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Background story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Abstract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Datasets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Methods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Results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Arial-BoldMT"/>
              </a:rPr>
              <a:t>Discussion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7B90AF-29A0-4ABF-9217-D62CE58D00B1}"/>
              </a:ext>
            </a:extLst>
          </p:cNvPr>
          <p:cNvSpPr/>
          <p:nvPr/>
        </p:nvSpPr>
        <p:spPr>
          <a:xfrm>
            <a:off x="12756032" y="1697058"/>
            <a:ext cx="6298146" cy="2214542"/>
          </a:xfrm>
          <a:prstGeom prst="rect">
            <a:avLst/>
          </a:prstGeom>
          <a:solidFill>
            <a:schemeClr val="lt1">
              <a:alpha val="66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o compare the performance and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the computation time of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four video-based methods 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for motion detection in preterm</a:t>
            </a:r>
          </a:p>
          <a:p>
            <a:pPr algn="ctr"/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infants, including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BS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,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SOF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DOF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, and </a:t>
            </a:r>
            <a:r>
              <a:rPr lang="en-US" sz="2400" b="1" i="1" u="none" strike="noStrike" baseline="0" dirty="0">
                <a:solidFill>
                  <a:srgbClr val="FF0000"/>
                </a:solidFill>
                <a:latin typeface="+mj-lt"/>
              </a:rPr>
              <a:t>ORB</a:t>
            </a:r>
            <a:r>
              <a:rPr lang="en-US" sz="2400" b="1" i="0" u="none" strike="noStrike" baseline="0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ED72D5-4538-40CC-9D83-BBDD353CA8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963" y="1910342"/>
            <a:ext cx="7810595" cy="60730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4354FE-D4A6-4216-82FA-C6AFF27A052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5" r="162" b="3168"/>
          <a:stretch/>
        </p:blipFill>
        <p:spPr>
          <a:xfrm>
            <a:off x="-41788" y="-74622"/>
            <a:ext cx="12221095" cy="664454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808E5FE-923F-47F6-819B-3362572BA720}"/>
              </a:ext>
            </a:extLst>
          </p:cNvPr>
          <p:cNvSpPr/>
          <p:nvPr/>
        </p:nvSpPr>
        <p:spPr>
          <a:xfrm>
            <a:off x="896369" y="7795063"/>
            <a:ext cx="10424038" cy="1669200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Two experiment-motion detection &amp; Gross motion detection.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Motion Detection is a combination of Gross motion and fine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Gross Motion </a:t>
            </a:r>
            <a:r>
              <a:rPr lang="en-US" b="1" dirty="0" err="1">
                <a:solidFill>
                  <a:schemeClr val="tx1"/>
                </a:solidFill>
              </a:rPr>
              <a:t>Dection</a:t>
            </a:r>
            <a:r>
              <a:rPr lang="en-US" b="1" dirty="0">
                <a:solidFill>
                  <a:schemeClr val="tx1"/>
                </a:solidFill>
              </a:rPr>
              <a:t> is only gross motion.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2F3F8A-F262-4890-8DD3-751EBEACA9A7}"/>
              </a:ext>
            </a:extLst>
          </p:cNvPr>
          <p:cNvSpPr/>
          <p:nvPr/>
        </p:nvSpPr>
        <p:spPr>
          <a:xfrm>
            <a:off x="3124685" y="8128355"/>
            <a:ext cx="8616189" cy="1132016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U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sing Python 3.8.3 with 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opencv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</a:t>
            </a:r>
            <a:r>
              <a:rPr lang="en-US" sz="1800" b="1" i="0" u="none" strike="noStrike" baseline="0" dirty="0" err="1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contrib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-python 4.5.5.62 (CPU-only)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on a CPU of 2.60GHz (Intel Core i7-9750H)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NimbusRomNo9L-Regu"/>
            </a:endParaRPr>
          </a:p>
          <a:p>
            <a:pPr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		with no architecture specific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instruction.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082AA6-1E19-400A-B834-804E482336FF}"/>
              </a:ext>
            </a:extLst>
          </p:cNvPr>
          <p:cNvSpPr/>
          <p:nvPr/>
        </p:nvSpPr>
        <p:spPr>
          <a:xfrm>
            <a:off x="3601093" y="8210068"/>
            <a:ext cx="1060392" cy="1044263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497F45-9553-4894-8D48-86C08E27B6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81" y="8233078"/>
            <a:ext cx="959211" cy="100739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0C5DDAAB-297B-4C20-8E8D-754F24863057}"/>
              </a:ext>
            </a:extLst>
          </p:cNvPr>
          <p:cNvSpPr/>
          <p:nvPr/>
        </p:nvSpPr>
        <p:spPr>
          <a:xfrm>
            <a:off x="15931659" y="413805"/>
            <a:ext cx="4024006" cy="1472497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latin typeface="NimbusRomNo9L-Regu"/>
              </a:rPr>
              <a:t>In the thermal dataset, BS outperforms the other methods with mean (SD) AUCs             of 0.86 (0.03) and 0.93 (0.03) for both experiments.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90ACF2-2C68-4A41-A22F-8D88DB0F931B}"/>
              </a:ext>
            </a:extLst>
          </p:cNvPr>
          <p:cNvSpPr/>
          <p:nvPr/>
        </p:nvSpPr>
        <p:spPr>
          <a:xfrm>
            <a:off x="15985648" y="2086461"/>
            <a:ext cx="3944993" cy="1295230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SOF performs best for motion detection and is as good as DOF when detecting gross motion.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57A39D-31C8-40CA-9AF8-7A64ED87FF12}"/>
              </a:ext>
            </a:extLst>
          </p:cNvPr>
          <p:cNvSpPr/>
          <p:nvPr/>
        </p:nvSpPr>
        <p:spPr>
          <a:xfrm>
            <a:off x="15931659" y="3643834"/>
            <a:ext cx="4024006" cy="136705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/>
              <a:t>The performance of SOF and ORB increases with higher video resolution, but has little influence on the performance of DOF.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BC32898-93FD-421A-9733-6D8677D2234A}"/>
              </a:ext>
            </a:extLst>
          </p:cNvPr>
          <p:cNvSpPr/>
          <p:nvPr/>
        </p:nvSpPr>
        <p:spPr>
          <a:xfrm>
            <a:off x="12877140" y="5010887"/>
            <a:ext cx="2341932" cy="1412305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latin typeface="NimbusRomNo9L-Regu"/>
              </a:rPr>
              <a:t>The run time does not differ per method for the thermal data, which has a low resolution.</a:t>
            </a:r>
            <a:r>
              <a:rPr lang="en-US" b="1" dirty="0"/>
              <a:t>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B1FE813-70F9-4FA3-BAA4-B349737FCDF5}"/>
              </a:ext>
            </a:extLst>
          </p:cNvPr>
          <p:cNvSpPr/>
          <p:nvPr/>
        </p:nvSpPr>
        <p:spPr>
          <a:xfrm>
            <a:off x="15931659" y="5267096"/>
            <a:ext cx="4036931" cy="1177099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80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NimbusRomNo9L-Regu"/>
              </a:rPr>
              <a:t>In the RGB dataset, the run time is always higher, particularly the run time of DOF increases largely at high resolution.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DBA920-14B4-4937-95B5-4C287666BB7E}"/>
              </a:ext>
            </a:extLst>
          </p:cNvPr>
          <p:cNvSpPr/>
          <p:nvPr/>
        </p:nvSpPr>
        <p:spPr>
          <a:xfrm>
            <a:off x="15450711" y="2102195"/>
            <a:ext cx="534938" cy="1279495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A5D9C0-0C1F-40AB-A026-9BC260FC3AE3}"/>
              </a:ext>
            </a:extLst>
          </p:cNvPr>
          <p:cNvSpPr/>
          <p:nvPr/>
        </p:nvSpPr>
        <p:spPr>
          <a:xfrm>
            <a:off x="15439339" y="412142"/>
            <a:ext cx="534938" cy="1472497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0310BF2-5FFF-44BB-A2AB-6C9674D2769A}"/>
              </a:ext>
            </a:extLst>
          </p:cNvPr>
          <p:cNvSpPr/>
          <p:nvPr/>
        </p:nvSpPr>
        <p:spPr>
          <a:xfrm>
            <a:off x="15452983" y="3637899"/>
            <a:ext cx="534938" cy="1372989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985F491-AFEA-4E7E-8FF3-71D1E0D84D99}"/>
              </a:ext>
            </a:extLst>
          </p:cNvPr>
          <p:cNvSpPr/>
          <p:nvPr/>
        </p:nvSpPr>
        <p:spPr>
          <a:xfrm>
            <a:off x="15468904" y="5273032"/>
            <a:ext cx="462756" cy="1171163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492F0D-06B4-437C-8513-BE013331A1B4}"/>
              </a:ext>
            </a:extLst>
          </p:cNvPr>
          <p:cNvSpPr/>
          <p:nvPr/>
        </p:nvSpPr>
        <p:spPr>
          <a:xfrm>
            <a:off x="12345833" y="5002351"/>
            <a:ext cx="534938" cy="1420841"/>
          </a:xfrm>
          <a:prstGeom prst="rect">
            <a:avLst/>
          </a:prstGeom>
          <a:solidFill>
            <a:schemeClr val="lt1">
              <a:alpha val="48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A129C-E1EE-4560-A61A-569242FCD6B5}"/>
              </a:ext>
            </a:extLst>
          </p:cNvPr>
          <p:cNvSpPr/>
          <p:nvPr/>
        </p:nvSpPr>
        <p:spPr>
          <a:xfrm>
            <a:off x="15626003" y="553691"/>
            <a:ext cx="255641" cy="1176979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455B26-DD14-4C66-B16E-38C7F9E29813}"/>
              </a:ext>
            </a:extLst>
          </p:cNvPr>
          <p:cNvSpPr/>
          <p:nvPr/>
        </p:nvSpPr>
        <p:spPr>
          <a:xfrm>
            <a:off x="15628277" y="2220997"/>
            <a:ext cx="253367" cy="1003097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37BD856-A1A4-4A0A-9491-B3C66A788801}"/>
              </a:ext>
            </a:extLst>
          </p:cNvPr>
          <p:cNvSpPr/>
          <p:nvPr/>
        </p:nvSpPr>
        <p:spPr>
          <a:xfrm>
            <a:off x="15628275" y="3776846"/>
            <a:ext cx="253369" cy="1082382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DC2B13D-F00C-4AB6-98FE-C4410EE171D6}"/>
              </a:ext>
            </a:extLst>
          </p:cNvPr>
          <p:cNvSpPr/>
          <p:nvPr/>
        </p:nvSpPr>
        <p:spPr>
          <a:xfrm>
            <a:off x="15628270" y="5397835"/>
            <a:ext cx="253374" cy="842080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61A90-09F3-4634-ADEF-916FD8F89EED}"/>
              </a:ext>
            </a:extLst>
          </p:cNvPr>
          <p:cNvSpPr/>
          <p:nvPr/>
        </p:nvSpPr>
        <p:spPr>
          <a:xfrm>
            <a:off x="12497150" y="5134591"/>
            <a:ext cx="256032" cy="1105324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4736415-946A-4235-9F1A-4DEC3AA674AD}"/>
              </a:ext>
            </a:extLst>
          </p:cNvPr>
          <p:cNvSpPr/>
          <p:nvPr/>
        </p:nvSpPr>
        <p:spPr>
          <a:xfrm>
            <a:off x="13002143" y="454252"/>
            <a:ext cx="8128996" cy="5303310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A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ll the methods can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capture gross motion well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based on differences between two consecutive frames</a:t>
            </a:r>
            <a:r>
              <a:rPr lang="en-US" sz="1800" b="1" i="0" u="none" strike="noStrike" baseline="0" dirty="0">
                <a:solidFill>
                  <a:schemeClr val="tx1"/>
                </a:solidFill>
                <a:latin typeface="NimbusRomNo9L-Regu"/>
              </a:rPr>
              <a:t>.</a:t>
            </a:r>
          </a:p>
          <a:p>
            <a:pPr algn="l"/>
            <a:endParaRPr lang="en-US" b="1" dirty="0">
              <a:solidFill>
                <a:schemeClr val="accent1">
                  <a:lumMod val="75000"/>
                </a:schemeClr>
              </a:solidFill>
              <a:latin typeface="NimbusRomNo9L-Regu"/>
            </a:endParaRPr>
          </a:p>
          <a:p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Why these methods are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low performance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in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fine motion detection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?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  <a:latin typeface="NimbusRomNo9L-Regu"/>
            </a:endParaRPr>
          </a:p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BS method perform best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thermal videos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but the performance decreases in RGB videos. 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BS &amp; DOF cannot benefit from the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increased resolution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but SOF and ORB can benefit.</a:t>
            </a: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/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The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run time of the DOF method increases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much more than other methods when running in </a:t>
            </a:r>
            <a:r>
              <a:rPr lang="en-US" sz="1800" b="1" i="0" u="sng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high-resolution RGB </a:t>
            </a:r>
            <a:r>
              <a:rPr lang="en-US" sz="1800" b="1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NimbusRomNo9L-Regu"/>
              </a:rPr>
              <a:t>videos.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These results can differ according to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 </a:t>
            </a:r>
            <a:r>
              <a:rPr lang="en-US" sz="1800" b="1" i="0" u="sng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limitations of patient population </a:t>
            </a:r>
            <a:r>
              <a:rPr lang="en-US" sz="1800" b="1" i="0" u="none" strike="noStrike" baseline="0" dirty="0">
                <a:solidFill>
                  <a:schemeClr val="accent1">
                    <a:lumMod val="75000"/>
                  </a:schemeClr>
                </a:solidFill>
                <a:latin typeface="NimbusRomNo9L-Regu"/>
              </a:rPr>
              <a:t>and available views between the two datasets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, and can make further research.</a:t>
            </a:r>
          </a:p>
          <a:p>
            <a:pPr algn="l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8B900F-E8F8-4404-87D1-0B2B2426E8D6}"/>
              </a:ext>
            </a:extLst>
          </p:cNvPr>
          <p:cNvSpPr/>
          <p:nvPr/>
        </p:nvSpPr>
        <p:spPr>
          <a:xfrm>
            <a:off x="12447986" y="454245"/>
            <a:ext cx="557564" cy="5309254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0A57A68D-8EFF-46C0-B4A2-06FD38FA6CC1}"/>
              </a:ext>
            </a:extLst>
          </p:cNvPr>
          <p:cNvSpPr/>
          <p:nvPr/>
        </p:nvSpPr>
        <p:spPr>
          <a:xfrm>
            <a:off x="12744185" y="789226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Arrow: Chevron 61">
            <a:extLst>
              <a:ext uri="{FF2B5EF4-FFF2-40B4-BE49-F238E27FC236}">
                <a16:creationId xmlns:a16="http://schemas.microsoft.com/office/drawing/2014/main" id="{BF0C5E89-0C59-451A-96DA-D3B1AE65F3EA}"/>
              </a:ext>
            </a:extLst>
          </p:cNvPr>
          <p:cNvSpPr/>
          <p:nvPr/>
        </p:nvSpPr>
        <p:spPr>
          <a:xfrm>
            <a:off x="12744179" y="1634352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Arrow: Chevron 62">
            <a:extLst>
              <a:ext uri="{FF2B5EF4-FFF2-40B4-BE49-F238E27FC236}">
                <a16:creationId xmlns:a16="http://schemas.microsoft.com/office/drawing/2014/main" id="{A4011767-DC02-428C-A818-7D84A954DC15}"/>
              </a:ext>
            </a:extLst>
          </p:cNvPr>
          <p:cNvSpPr/>
          <p:nvPr/>
        </p:nvSpPr>
        <p:spPr>
          <a:xfrm>
            <a:off x="12758036" y="2174679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Arrow: Chevron 67">
            <a:extLst>
              <a:ext uri="{FF2B5EF4-FFF2-40B4-BE49-F238E27FC236}">
                <a16:creationId xmlns:a16="http://schemas.microsoft.com/office/drawing/2014/main" id="{97BBE883-BB94-40A0-A3E2-A92DE888B773}"/>
              </a:ext>
            </a:extLst>
          </p:cNvPr>
          <p:cNvSpPr/>
          <p:nvPr/>
        </p:nvSpPr>
        <p:spPr>
          <a:xfrm>
            <a:off x="12744176" y="3005960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Arrow: Chevron 68">
            <a:extLst>
              <a:ext uri="{FF2B5EF4-FFF2-40B4-BE49-F238E27FC236}">
                <a16:creationId xmlns:a16="http://schemas.microsoft.com/office/drawing/2014/main" id="{51DF2A55-CEED-4339-AAA9-558D75676493}"/>
              </a:ext>
            </a:extLst>
          </p:cNvPr>
          <p:cNvSpPr/>
          <p:nvPr/>
        </p:nvSpPr>
        <p:spPr>
          <a:xfrm>
            <a:off x="12730319" y="3837238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Arrow: Chevron 69">
            <a:extLst>
              <a:ext uri="{FF2B5EF4-FFF2-40B4-BE49-F238E27FC236}">
                <a16:creationId xmlns:a16="http://schemas.microsoft.com/office/drawing/2014/main" id="{B1ECBA98-B021-4FC9-8798-D975EB495A16}"/>
              </a:ext>
            </a:extLst>
          </p:cNvPr>
          <p:cNvSpPr/>
          <p:nvPr/>
        </p:nvSpPr>
        <p:spPr>
          <a:xfrm>
            <a:off x="12744172" y="4640784"/>
            <a:ext cx="212906" cy="230025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C63752E-E2B9-4C05-B1F4-10BCB2271E53}"/>
              </a:ext>
            </a:extLst>
          </p:cNvPr>
          <p:cNvSpPr/>
          <p:nvPr/>
        </p:nvSpPr>
        <p:spPr>
          <a:xfrm rot="8152456">
            <a:off x="5658573" y="1286742"/>
            <a:ext cx="4572000" cy="4572000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F78C0D9-A000-4599-B21A-61EFB543AF42}"/>
              </a:ext>
            </a:extLst>
          </p:cNvPr>
          <p:cNvSpPr/>
          <p:nvPr/>
        </p:nvSpPr>
        <p:spPr>
          <a:xfrm rot="8073762">
            <a:off x="2320892" y="1234871"/>
            <a:ext cx="4572000" cy="4572000"/>
          </a:xfrm>
          <a:prstGeom prst="rect">
            <a:avLst/>
          </a:prstGeom>
          <a:solidFill>
            <a:schemeClr val="bg1">
              <a:lumMod val="50000"/>
              <a:alpha val="6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9958B8-C13E-48C0-9F13-9D8ECAC914B4}"/>
              </a:ext>
            </a:extLst>
          </p:cNvPr>
          <p:cNvSpPr txBox="1"/>
          <p:nvPr/>
        </p:nvSpPr>
        <p:spPr>
          <a:xfrm>
            <a:off x="3716905" y="2352852"/>
            <a:ext cx="49386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i="0" u="none" strike="noStrike" baseline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rial-BoldMT"/>
              </a:rPr>
              <a:t>Thank you</a:t>
            </a:r>
            <a:endParaRPr lang="en-US" sz="6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9B7C77-4169-451F-83FE-9AFD37E0CB47}"/>
              </a:ext>
            </a:extLst>
          </p:cNvPr>
          <p:cNvSpPr txBox="1"/>
          <p:nvPr/>
        </p:nvSpPr>
        <p:spPr>
          <a:xfrm>
            <a:off x="2329032" y="3448375"/>
            <a:ext cx="7522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spc="50" baseline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-BoldMT"/>
              </a:rPr>
              <a:t>For your attention</a:t>
            </a:r>
            <a:endParaRPr lang="en-US" sz="3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B914B-90CA-4D12-9DE6-5C16AD6F2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585" y="5328994"/>
            <a:ext cx="1316937" cy="1659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888C24-4B4C-45D9-A087-8A0518553E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453" y="5671551"/>
            <a:ext cx="1557580" cy="15575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4BF1CB-5D4E-446B-BD96-1D18501A2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17602" y="5542224"/>
            <a:ext cx="1517103" cy="151710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C6FAB2C-2145-4167-88A5-07AC4ABEC75B}"/>
              </a:ext>
            </a:extLst>
          </p:cNvPr>
          <p:cNvSpPr txBox="1"/>
          <p:nvPr/>
        </p:nvSpPr>
        <p:spPr>
          <a:xfrm rot="999173">
            <a:off x="6339255" y="3930880"/>
            <a:ext cx="1759131" cy="101566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6000" b="1" i="0" u="none" strike="noStrike" baseline="0" dirty="0"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rial-BoldMT"/>
              </a:rPr>
              <a:t>?</a:t>
            </a:r>
            <a:endParaRPr lang="en-US" sz="6000" b="1" dirty="0"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90182E-663A-498D-B884-87B8A9830A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830" y="4072526"/>
            <a:ext cx="3429000" cy="2952750"/>
          </a:xfrm>
          <a:prstGeom prst="rect">
            <a:avLst/>
          </a:prstGeom>
        </p:spPr>
      </p:pic>
      <p:sp>
        <p:nvSpPr>
          <p:cNvPr id="71" name="Flowchart: Connector 70">
            <a:extLst>
              <a:ext uri="{FF2B5EF4-FFF2-40B4-BE49-F238E27FC236}">
                <a16:creationId xmlns:a16="http://schemas.microsoft.com/office/drawing/2014/main" id="{13F78158-137E-4AE2-B09B-DBF3A4036B4B}"/>
              </a:ext>
            </a:extLst>
          </p:cNvPr>
          <p:cNvSpPr/>
          <p:nvPr/>
        </p:nvSpPr>
        <p:spPr>
          <a:xfrm>
            <a:off x="551291" y="6450281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8168C1CF-3CDF-4DF3-8519-95CC796597DE}"/>
              </a:ext>
            </a:extLst>
          </p:cNvPr>
          <p:cNvSpPr/>
          <p:nvPr/>
        </p:nvSpPr>
        <p:spPr>
          <a:xfrm>
            <a:off x="805013" y="6450281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lowchart: Connector 74">
            <a:extLst>
              <a:ext uri="{FF2B5EF4-FFF2-40B4-BE49-F238E27FC236}">
                <a16:creationId xmlns:a16="http://schemas.microsoft.com/office/drawing/2014/main" id="{7EC9300C-18E9-46FD-9684-BBD113C088F3}"/>
              </a:ext>
            </a:extLst>
          </p:cNvPr>
          <p:cNvSpPr/>
          <p:nvPr/>
        </p:nvSpPr>
        <p:spPr>
          <a:xfrm>
            <a:off x="1055905" y="6450281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85088233-1522-4069-BE65-45C5FE63B721}"/>
              </a:ext>
            </a:extLst>
          </p:cNvPr>
          <p:cNvSpPr/>
          <p:nvPr/>
        </p:nvSpPr>
        <p:spPr>
          <a:xfrm>
            <a:off x="1294156" y="6453710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E1586575-84D0-41BA-9742-59A5CF966B7E}"/>
              </a:ext>
            </a:extLst>
          </p:cNvPr>
          <p:cNvSpPr/>
          <p:nvPr/>
        </p:nvSpPr>
        <p:spPr>
          <a:xfrm>
            <a:off x="1545048" y="6450281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owchart: Connector 77">
            <a:extLst>
              <a:ext uri="{FF2B5EF4-FFF2-40B4-BE49-F238E27FC236}">
                <a16:creationId xmlns:a16="http://schemas.microsoft.com/office/drawing/2014/main" id="{4386E5C1-F08F-43A5-B213-08F43D503747}"/>
              </a:ext>
            </a:extLst>
          </p:cNvPr>
          <p:cNvSpPr/>
          <p:nvPr/>
        </p:nvSpPr>
        <p:spPr>
          <a:xfrm>
            <a:off x="1793322" y="6454975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owchart: Connector 78">
            <a:extLst>
              <a:ext uri="{FF2B5EF4-FFF2-40B4-BE49-F238E27FC236}">
                <a16:creationId xmlns:a16="http://schemas.microsoft.com/office/drawing/2014/main" id="{E7F3F027-E7FD-4525-94AF-C1D1325BCB79}"/>
              </a:ext>
            </a:extLst>
          </p:cNvPr>
          <p:cNvSpPr/>
          <p:nvPr/>
        </p:nvSpPr>
        <p:spPr>
          <a:xfrm>
            <a:off x="2042003" y="6461162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511C8976-5E3F-4F52-A29E-F79C5AEBBA3F}"/>
              </a:ext>
            </a:extLst>
          </p:cNvPr>
          <p:cNvSpPr/>
          <p:nvPr/>
        </p:nvSpPr>
        <p:spPr>
          <a:xfrm>
            <a:off x="2304132" y="6461162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D2332D96-EA15-4447-A860-A22D5AF3DA05}"/>
              </a:ext>
            </a:extLst>
          </p:cNvPr>
          <p:cNvSpPr/>
          <p:nvPr/>
        </p:nvSpPr>
        <p:spPr>
          <a:xfrm>
            <a:off x="2540008" y="6456218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A0F120A8-D156-4E41-BD9D-4C446171CDA2}"/>
              </a:ext>
            </a:extLst>
          </p:cNvPr>
          <p:cNvSpPr/>
          <p:nvPr/>
        </p:nvSpPr>
        <p:spPr>
          <a:xfrm>
            <a:off x="2802137" y="6450281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959A7C70-7B97-4D7C-A8D4-4265482D90E9}"/>
              </a:ext>
            </a:extLst>
          </p:cNvPr>
          <p:cNvSpPr/>
          <p:nvPr/>
        </p:nvSpPr>
        <p:spPr>
          <a:xfrm>
            <a:off x="3050818" y="6456219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AF32067A-8DAC-4771-BBEE-B2E3FEF80CF7}"/>
              </a:ext>
            </a:extLst>
          </p:cNvPr>
          <p:cNvSpPr/>
          <p:nvPr/>
        </p:nvSpPr>
        <p:spPr>
          <a:xfrm>
            <a:off x="3278475" y="6450281"/>
            <a:ext cx="182880" cy="182880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27FE5F2B-0C73-46AD-97BC-86AC2D83D2A4}"/>
              </a:ext>
            </a:extLst>
          </p:cNvPr>
          <p:cNvSpPr/>
          <p:nvPr/>
        </p:nvSpPr>
        <p:spPr>
          <a:xfrm>
            <a:off x="258080" y="6461162"/>
            <a:ext cx="182880" cy="182880"/>
          </a:xfrm>
          <a:prstGeom prst="flowChartConnector">
            <a:avLst/>
          </a:prstGeom>
          <a:solidFill>
            <a:schemeClr val="lt1">
              <a:alpha val="88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F553DFBE-1CFF-4C5B-A12B-72CA3640633A}"/>
              </a:ext>
            </a:extLst>
          </p:cNvPr>
          <p:cNvSpPr/>
          <p:nvPr/>
        </p:nvSpPr>
        <p:spPr>
          <a:xfrm>
            <a:off x="3263121" y="6422849"/>
            <a:ext cx="256032" cy="256032"/>
          </a:xfrm>
          <a:prstGeom prst="flowChartConnector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1E710DF-2C63-4CCF-B13F-BF4AD462D2EA}"/>
              </a:ext>
            </a:extLst>
          </p:cNvPr>
          <p:cNvSpPr txBox="1"/>
          <p:nvPr/>
        </p:nvSpPr>
        <p:spPr>
          <a:xfrm>
            <a:off x="3199376" y="6419309"/>
            <a:ext cx="490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</a:rPr>
              <a:t>13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44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</TotalTime>
  <Words>3567</Words>
  <Application>Microsoft Office PowerPoint</Application>
  <PresentationFormat>Widescreen</PresentationFormat>
  <Paragraphs>578</Paragraphs>
  <Slides>13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Arial-BoldMT</vt:lpstr>
      <vt:lpstr>Calibri</vt:lpstr>
      <vt:lpstr>Calibri Light</vt:lpstr>
      <vt:lpstr>NimbusRomNo9L-Regu</vt:lpstr>
      <vt:lpstr>NimbusRomNo9L-ReguItal</vt:lpstr>
      <vt:lpstr>Roboto</vt:lpstr>
      <vt:lpstr>Swis721 BlkEx BT</vt:lpstr>
      <vt:lpstr>Times New Roman</vt:lpstr>
      <vt:lpstr>Wingdings</vt:lpstr>
      <vt:lpstr>Office Theme</vt:lpstr>
      <vt:lpstr>Package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  <vt:lpstr>A Comparison of Video-based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</dc:creator>
  <cp:lastModifiedBy>MICRO</cp:lastModifiedBy>
  <cp:revision>81</cp:revision>
  <dcterms:created xsi:type="dcterms:W3CDTF">2023-02-04T16:45:49Z</dcterms:created>
  <dcterms:modified xsi:type="dcterms:W3CDTF">2023-02-07T16:31:53Z</dcterms:modified>
</cp:coreProperties>
</file>